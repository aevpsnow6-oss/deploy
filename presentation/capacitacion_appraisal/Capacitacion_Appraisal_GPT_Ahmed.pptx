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82296" cy="6858000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50876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5500" b="1">
                <a:solidFill>
                  <a:srgbClr val="003E7E"/>
                </a:solidFill>
              </a:rPr>
              <a:t>Cómo funciona la tecnología
y cuáles son sus límites</a:t>
            </a:r>
          </a:p>
          <a:p>
            <a:pPr>
              <a:spcBef>
                <a:spcPts val="1800"/>
              </a:spcBef>
            </a:pPr>
            <a:r>
              <a:rPr sz="3000" b="0">
                <a:solidFill>
                  <a:srgbClr val="4A4A4A"/>
                </a:solidFill>
              </a:rPr>
              <a:t>Agente GPT · Appraisal Checklist de PRODOCs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4206240"/>
            <a:ext cx="2834640" cy="64008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52628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3"/>
              </a:spcAft>
            </a:pPr>
            <a:r>
              <a:rPr sz="2400" b="1">
                <a:solidFill>
                  <a:srgbClr val="003E7E"/>
                </a:solidFill>
              </a:rPr>
              <a:t>Expositor:  </a:t>
            </a:r>
            <a:r>
              <a:rPr sz="2400" b="0">
                <a:solidFill>
                  <a:srgbClr val="4A4A4A"/>
                </a:solidFill>
              </a:rPr>
              <a:t>Ahmed Eid</a:t>
            </a:r>
          </a:p>
          <a:p>
            <a:pPr>
              <a:spcAft>
                <a:spcPts val="903"/>
              </a:spcAft>
            </a:pPr>
            <a:r>
              <a:rPr sz="2400" b="1">
                <a:solidFill>
                  <a:srgbClr val="003E7E"/>
                </a:solidFill>
              </a:rPr>
              <a:t>Sesión:  </a:t>
            </a:r>
            <a:r>
              <a:rPr sz="2400" b="0">
                <a:solidFill>
                  <a:srgbClr val="4A4A4A"/>
                </a:solidFill>
              </a:rPr>
              <a:t>Día 1 · jueves 27 de agosto de 2026 · 9:30–10:30 (Lima)</a:t>
            </a:r>
          </a:p>
          <a:p>
            <a:pPr>
              <a:spcAft>
                <a:spcPts val="903"/>
              </a:spcAft>
            </a:pPr>
            <a:r>
              <a:rPr sz="2400" b="1">
                <a:solidFill>
                  <a:srgbClr val="003E7E"/>
                </a:solidFill>
              </a:rPr>
              <a:t>Bloque:  </a:t>
            </a:r>
            <a:r>
              <a:rPr sz="2400" b="0">
                <a:solidFill>
                  <a:srgbClr val="4A4A4A"/>
                </a:solidFill>
              </a:rPr>
              <a:t>Punto 4 · 30 minutos + preguntas integradas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Qué vamos a cubrir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9304" y="117043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117043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De dónde viene  </a:t>
            </a:r>
            <a:r>
              <a:rPr sz="2600" b="0">
                <a:solidFill>
                  <a:srgbClr val="4A4A4A"/>
                </a:solidFill>
              </a:rPr>
              <a:t>de la aplicación Streamlit al Agente GPT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9304" y="209214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209214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Cómo está construido  </a:t>
            </a:r>
            <a:r>
              <a:rPr sz="2600" b="0">
                <a:solidFill>
                  <a:srgbClr val="4A4A4A"/>
                </a:solidFill>
              </a:rPr>
              <a:t>la rúbrica, los tests, la búsqueda de evidencia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9304" y="301386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01386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Por qué repite  </a:t>
            </a:r>
            <a:r>
              <a:rPr sz="2600" b="0">
                <a:solidFill>
                  <a:srgbClr val="4A4A4A"/>
                </a:solidFill>
              </a:rPr>
              <a:t>aleatoriedad, 10 corridas y estabilidad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9304" y="393557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0472" y="393557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Qué NO hace  </a:t>
            </a:r>
            <a:r>
              <a:rPr sz="2600" b="0">
                <a:solidFill>
                  <a:srgbClr val="4A4A4A"/>
                </a:solidFill>
              </a:rPr>
              <a:t>límites reales y comparación con el GPT Empresarial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9304" y="485729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0472" y="485729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Demostración  </a:t>
            </a:r>
            <a:r>
              <a:rPr sz="2600" b="0">
                <a:solidFill>
                  <a:srgbClr val="4A4A4A"/>
                </a:solidFill>
              </a:rPr>
              <a:t>cargar → ejecutar → interpretar el Excel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300" b="1">
                <a:solidFill>
                  <a:srgbClr val="D6001C"/>
                </a:solidFill>
              </a:rPr>
              <a:t>Las preguntas se integran a este bloque: </a:t>
            </a:r>
            <a:r>
              <a:rPr sz="2300" b="0">
                <a:solidFill>
                  <a:srgbClr val="4A4A4A"/>
                </a:solidFill>
              </a:rPr>
              <a:t>interrúmpanme en cualquier momento.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100" b="1">
                <a:solidFill>
                  <a:srgbClr val="FFFFFF"/>
                </a:solidFill>
              </a:rPr>
              <a:t>De dónde viene: de Streamlit al Agente GPT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11183111" cy="4517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3375"/>
                <a:gridCol w="4529868"/>
                <a:gridCol w="4529868"/>
              </a:tblGrid>
              <a:tr h="464619">
                <a:tc>
                  <a:txBody>
                    <a:bodyPr/>
                    <a:lstStyle/>
                    <a:p>
                      <a:pPr/>
                      <a:r>
                        <a:rPr b="1" sz="24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400">
                          <a:solidFill>
                            <a:srgbClr val="FFFFFF"/>
                          </a:solidFill>
                        </a:rPr>
                        <a:t>Aplicación Streamlit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400">
                          <a:solidFill>
                            <a:srgbClr val="FFFFFF"/>
                          </a:solidFill>
                        </a:rPr>
                        <a:t>Agente GPT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400" b="1">
                          <a:solidFill>
                            <a:srgbClr val="003E7E"/>
                          </a:solidFill>
                        </a:rPr>
                        <a:t>Acceso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URL + contraseña de entorno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Enlace de ChatGPT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400" b="1">
                          <a:solidFill>
                            <a:srgbClr val="003E7E"/>
                          </a:solidFill>
                        </a:rPr>
                        <a:t>Instalación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Servidor propio, dependencias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Ninguna: se abre en el navegador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400" b="1">
                          <a:solidFill>
                            <a:srgbClr val="003E7E"/>
                          </a:solidFill>
                        </a:rPr>
                        <a:t>Curva de uso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Interfaz con pestañas y parámetros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Conversación en lenguaje natural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400" b="1">
                          <a:solidFill>
                            <a:srgbClr val="003E7E"/>
                          </a:solidFill>
                        </a:rPr>
                        <a:t>Rúbrica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Cargada en el servidor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Cargada en el servidor (igual)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400" b="1">
                          <a:solidFill>
                            <a:srgbClr val="003E7E"/>
                          </a:solidFill>
                        </a:rPr>
                        <a:t>Motor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El mismo código de evaluación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El mismo código de evaluación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2400" b="1">
                          <a:solidFill>
                            <a:srgbClr val="003E7E"/>
                          </a:solidFill>
                        </a:rPr>
                        <a:t>Salida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Excel descargable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Excel descargable (igual)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El motor no cambió. </a:t>
            </a:r>
            <a:r>
              <a:rPr sz="2000" b="0">
                <a:solidFill>
                  <a:srgbClr val="4A4A4A"/>
                </a:solidFill>
              </a:rPr>
              <a:t>Cambió la puerta de entrada: el Agente elimina la barrera de instalación y de interfaz.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Qué es un GPT, en términos sencillos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260"/>
              </a:spcAft>
            </a:pPr>
            <a:r>
              <a:rPr sz="2500">
                <a:solidFill>
                  <a:srgbClr val="0072BC"/>
                </a:solidFill>
              </a:rPr>
              <a:t>▪  </a:t>
            </a:r>
            <a:r>
              <a:rPr sz="2500" b="1">
                <a:solidFill>
                  <a:srgbClr val="003E7E"/>
                </a:solidFill>
              </a:rPr>
              <a:t>Un modelo de lenguaje predice texto.</a:t>
            </a:r>
            <a:r>
              <a:rPr sz="2500" b="0">
                <a:solidFill>
                  <a:srgbClr val="4A4A4A"/>
                </a:solidFill>
              </a:rPr>
              <a:t>  Ha leído enormes cantidades de texto y aprendió qué palabras siguen a otras en un contexto dado.</a:t>
            </a:r>
          </a:p>
          <a:p>
            <a:pPr>
              <a:spcAft>
                <a:spcPts val="2260"/>
              </a:spcAft>
            </a:pPr>
            <a:r>
              <a:rPr sz="2500">
                <a:solidFill>
                  <a:srgbClr val="0072BC"/>
                </a:solidFill>
              </a:rPr>
              <a:t>▪  </a:t>
            </a:r>
            <a:r>
              <a:rPr sz="2500" b="1">
                <a:solidFill>
                  <a:srgbClr val="003E7E"/>
                </a:solidFill>
              </a:rPr>
              <a:t>No es una base de datos.</a:t>
            </a:r>
            <a:r>
              <a:rPr sz="2500" b="0">
                <a:solidFill>
                  <a:srgbClr val="4A4A4A"/>
                </a:solidFill>
              </a:rPr>
              <a:t>  No «consulta» el PRODOC como quien busca en un archivo: lo lee completo y razona sobre él en ese momento.</a:t>
            </a:r>
          </a:p>
          <a:p>
            <a:pPr>
              <a:spcAft>
                <a:spcPts val="2260"/>
              </a:spcAft>
            </a:pPr>
            <a:r>
              <a:rPr sz="2500">
                <a:solidFill>
                  <a:srgbClr val="0072BC"/>
                </a:solidFill>
              </a:rPr>
              <a:t>▪  </a:t>
            </a:r>
            <a:r>
              <a:rPr sz="2500" b="1">
                <a:solidFill>
                  <a:srgbClr val="003E7E"/>
                </a:solidFill>
              </a:rPr>
              <a:t>No es un buscador.</a:t>
            </a:r>
            <a:r>
              <a:rPr sz="2500" b="0">
                <a:solidFill>
                  <a:srgbClr val="4A4A4A"/>
                </a:solidFill>
              </a:rPr>
              <a:t>  No hay una lista de respuestas correctas guardada en algún lugar que el sistema recupere.</a:t>
            </a:r>
          </a:p>
          <a:p>
            <a:pPr>
              <a:spcAft>
                <a:spcPts val="2260"/>
              </a:spcAft>
            </a:pPr>
            <a:r>
              <a:rPr sz="2500">
                <a:solidFill>
                  <a:srgbClr val="0072BC"/>
                </a:solidFill>
              </a:rPr>
              <a:t>▪  </a:t>
            </a:r>
            <a:r>
              <a:rPr sz="2500" b="1">
                <a:solidFill>
                  <a:srgbClr val="003E7E"/>
                </a:solidFill>
              </a:rPr>
              <a:t>Es un lector que sigue instrucciones.</a:t>
            </a:r>
            <a:r>
              <a:rPr sz="2500" b="0">
                <a:solidFill>
                  <a:srgbClr val="4A4A4A"/>
                </a:solidFill>
              </a:rPr>
              <a:t>  Le entregamos el documento, la rúbrica y una instrucción muy precisa, y devuelve un juicio con la cita que lo sustenta.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D6001C"/>
                </a:solidFill>
              </a:rPr>
              <a:t>Consecuencia práctica:  </a:t>
            </a:r>
            <a:r>
              <a:rPr sz="2000" b="0">
                <a:solidFill>
                  <a:srgbClr val="4A4A4A"/>
                </a:solidFill>
              </a:rPr>
              <a:t>el Agente solo puede ver lo que está escrito en el PRODOC. Lo que el especialista sabe y no documentó, no existe para él.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Lo que el Agente no hace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1118311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5174"/>
                <a:gridCol w="3860836"/>
                <a:gridCol w="4127100"/>
              </a:tblGrid>
              <a:tr h="542056"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No hace esto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Por qué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Qué implica para usted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Aprobar o rechazar un PRODOC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No emite determinaciones oficiales de la OIT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La decisión sigue siendo del appraiser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Adivinar lo no documentado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Solo lee el texto entregado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Un «No» puede ser una brecha documental, no de diseño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Recordar evaluaciones anteriores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Cada corrida parte de cero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No compara automáticamente entre proyectos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Redactar el PRODOC corregido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No es su propósito ni su alcance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Le señala dónde mirar, no qué escribir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Dar siempre la misma respuesta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Hay aleatoriedad inherente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Por eso repetimos y medimos estabilidad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Diseño deliberado:  </a:t>
            </a:r>
            <a:r>
              <a:rPr sz="2000" b="0">
                <a:solidFill>
                  <a:srgbClr val="4A4A4A"/>
                </a:solidFill>
              </a:rPr>
              <a:t>preferimos un diagnóstico acotado y auditable antes que una recomendación amplia sin respaldo en el documento.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400" b="1">
                <a:solidFill>
                  <a:srgbClr val="FFFFFF"/>
                </a:solidFill>
              </a:rPr>
              <a:t>Cómo se incorporó el Appraisal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9304" y="117043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117043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Se digitalizó la rúbrica  </a:t>
            </a:r>
            <a:r>
              <a:rPr sz="2600" b="0">
                <a:solidFill>
                  <a:srgbClr val="4A4A4A"/>
                </a:solidFill>
              </a:rPr>
              <a:t>cada criterio pasó a una fila estructurada, no a un texto libre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9304" y="209214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209214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Se descompuso en tests  </a:t>
            </a:r>
            <a:r>
              <a:rPr sz="2600" b="0">
                <a:solidFill>
                  <a:srgbClr val="4A4A4A"/>
                </a:solidFill>
              </a:rPr>
              <a:t>cada criterio se expresa como preguntas booleanas T1, T2, T3…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9304" y="301386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01386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Se escribió la regla de decisión  </a:t>
            </a:r>
            <a:r>
              <a:rPr sz="2600" b="0">
                <a:solidFill>
                  <a:srgbClr val="4A4A4A"/>
                </a:solidFill>
              </a:rPr>
              <a:t>una fórmula explícita determina Yes / Partial / 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9304" y="393557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0472" y="393557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Se fijaron anclas verificables  </a:t>
            </a:r>
            <a:r>
              <a:rPr sz="2600" b="0">
                <a:solidFill>
                  <a:srgbClr val="4A4A4A"/>
                </a:solidFill>
              </a:rPr>
              <a:t>términos y expresiones que el Agente debe buscar en el texto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9304" y="485729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0472" y="485729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Se marcó la subjetividad  </a:t>
            </a:r>
            <a:r>
              <a:rPr sz="2600" b="0">
                <a:solidFill>
                  <a:srgbClr val="4A4A4A"/>
                </a:solidFill>
              </a:rPr>
              <a:t>cada criterio se etiqueta Alta / Media / Baja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La rúbrica vive en el servidor. </a:t>
            </a:r>
            <a:r>
              <a:rPr sz="2000" b="0">
                <a:solidFill>
                  <a:srgbClr val="4A4A4A"/>
                </a:solidFill>
              </a:rPr>
              <a:t>El usuario nunca la sube: se evalúa siempre contra la misma versión institucional.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500" b="1">
                <a:solidFill>
                  <a:srgbClr val="FFFFFF"/>
                </a:solidFill>
              </a:rPr>
              <a:t>Qué evalúa: 76 criterios en 5 secciones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11183109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173"/>
                <a:gridCol w="5455176"/>
                <a:gridCol w="1636552"/>
                <a:gridCol w="2591208"/>
              </a:tblGrid>
              <a:tr h="542056">
                <a:tc>
                  <a:txBody>
                    <a:bodyPr/>
                    <a:lstStyle/>
                    <a:p>
                      <a:pPr/>
                      <a:r>
                        <a:rPr b="1" sz="2900">
                          <a:solidFill>
                            <a:srgbClr val="FFFFFF"/>
                          </a:solidFill>
                        </a:rPr>
                        <a:t>Sección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900">
                          <a:solidFill>
                            <a:srgbClr val="FFFFFF"/>
                          </a:solidFill>
                        </a:rPr>
                        <a:t>Contenido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900">
                          <a:solidFill>
                            <a:srgbClr val="FFFFFF"/>
                          </a:solidFill>
                        </a:rPr>
                        <a:t>Criterios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900">
                          <a:solidFill>
                            <a:srgbClr val="FFFFFF"/>
                          </a:solidFill>
                        </a:rPr>
                        <a:t>Subsecciones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003E7E"/>
                          </a:solidFill>
                        </a:rPr>
                        <a:t>1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Pertinencia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D6001C"/>
                          </a:solidFill>
                        </a:rPr>
                        <a:t>20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1.1 – 1.5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003E7E"/>
                          </a:solidFill>
                        </a:rPr>
                        <a:t>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Validez del diseño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D6001C"/>
                          </a:solidFill>
                        </a:rPr>
                        <a:t>13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2.1 – 2.4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003E7E"/>
                          </a:solidFill>
                        </a:rPr>
                        <a:t>3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Marco de resultados y R&amp;M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D6001C"/>
                          </a:solidFill>
                        </a:rPr>
                        <a:t>27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3.1 – 3.7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003E7E"/>
                          </a:solidFill>
                        </a:rPr>
                        <a:t>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Implementación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D6001C"/>
                          </a:solidFill>
                        </a:rPr>
                        <a:t>14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4.1 – 4.4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003E7E"/>
                          </a:solidFill>
                        </a:rPr>
                        <a:t>5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Presentación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 b="1">
                          <a:solidFill>
                            <a:srgbClr val="D6001C"/>
                          </a:solidFill>
                        </a:rPr>
                        <a:t>2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3100">
                          <a:solidFill>
                            <a:srgbClr val="4A4A4A"/>
                          </a:solidFill>
                        </a:rPr>
                        <a:t>5.1 – 5.2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Se puede filtrar:  </a:t>
            </a:r>
            <a:r>
              <a:rPr sz="2000" b="0">
                <a:solidFill>
                  <a:srgbClr val="4A4A4A"/>
                </a:solidFill>
              </a:rPr>
              <a:t>rúbrica completa, una sección («solo la sección 3») o subsecciones concretas («solo 1.1 y 2.3»). Filtrar reduce tiempo y costo.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3700" b="1">
                <a:solidFill>
                  <a:srgbClr val="FFFFFF"/>
                </a:solidFill>
              </a:rPr>
              <a:t>De criterio a tests: cómo «entiende» un criterio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44"/>
              </a:spcAft>
            </a:pPr>
            <a:r>
              <a:rPr sz="1400" b="1">
                <a:solidFill>
                  <a:srgbClr val="003E7E"/>
                </a:solidFill>
              </a:rPr>
              <a:t>El criterio no se evalúa como una impresión general.</a:t>
            </a:r>
          </a:p>
          <a:p>
            <a:pPr>
              <a:spcAft>
                <a:spcPts val="544"/>
              </a:spcAft>
            </a:pPr>
            <a:r>
              <a:rPr sz="1400" b="0">
                <a:solidFill>
                  <a:srgbClr val="4A4A4A"/>
                </a:solidFill>
              </a:rPr>
              <a:t>Se descompone en preguntas cerradas que se responden una por una, con evidencia citada: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65960"/>
          <a:ext cx="11183110" cy="2377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473"/>
                <a:gridCol w="8559912"/>
                <a:gridCol w="1587725"/>
              </a:tblGrid>
              <a:tr h="427939">
                <a:tc>
                  <a:txBody>
                    <a:bodyPr/>
                    <a:lstStyle/>
                    <a:p>
                      <a:pPr/>
                      <a:r>
                        <a:rPr b="1" sz="1900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1900">
                          <a:solidFill>
                            <a:srgbClr val="FFFFFF"/>
                          </a:solidFill>
                        </a:rPr>
                        <a:t>Pregunta cerrada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1900">
                          <a:solidFill>
                            <a:srgbClr val="FFFFFF"/>
                          </a:solidFill>
                        </a:rPr>
                        <a:t>Respuesta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649833"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003E7E"/>
                          </a:solidFill>
                        </a:rPr>
                        <a:t>T1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¿Distingue el tipo de enfoque (sensible / responsivo / transformador)?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4A4A4A"/>
                          </a:solidFill>
                        </a:rPr>
                        <a:t>sí / no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49833"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003E7E"/>
                          </a:solidFill>
                        </a:rPr>
                        <a:t>T2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¿Articula cómo el proyecto cuestiona normas o relaciones de poder?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4A4A4A"/>
                          </a:solidFill>
                        </a:rPr>
                        <a:t>sí / no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649833"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003E7E"/>
                          </a:solidFill>
                        </a:rPr>
                        <a:t>T3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>
                          <a:solidFill>
                            <a:srgbClr val="4A4A4A"/>
                          </a:solidFill>
                        </a:rPr>
                        <a:t>¿Hay acciones dedicadas a transformar relaciones, no solo a incluir mujeres?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000" b="1">
                          <a:solidFill>
                            <a:srgbClr val="4A4A4A"/>
                          </a:solidFill>
                        </a:rPr>
                        <a:t>sí / no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572000"/>
            <a:ext cx="1118311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3100" b="1">
                <a:solidFill>
                  <a:srgbClr val="003E7E"/>
                </a:solidFill>
              </a:rPr>
              <a:t>DECISIÓN:   </a:t>
            </a:r>
            <a:r>
              <a:rPr sz="3100" b="0">
                <a:solidFill>
                  <a:srgbClr val="4A4A4A"/>
                </a:solidFill>
              </a:rPr>
              <a:t>T1 ∧ T2 ∧ T3 → </a:t>
            </a:r>
            <a:r>
              <a:rPr sz="3100" b="1">
                <a:solidFill>
                  <a:srgbClr val="D6001C"/>
                </a:solidFill>
              </a:rPr>
              <a:t>Yes</a:t>
            </a:r>
            <a:r>
              <a:rPr sz="3100" b="0">
                <a:solidFill>
                  <a:srgbClr val="4A4A4A"/>
                </a:solidFill>
              </a:rPr>
              <a:t>      ·      T1 ∨ T3 (sin cumplir los tres) → </a:t>
            </a:r>
            <a:r>
              <a:rPr sz="3100" b="1">
                <a:solidFill>
                  <a:srgbClr val="D6001C"/>
                </a:solidFill>
              </a:rPr>
              <a:t>Partial</a:t>
            </a:r>
            <a:r>
              <a:rPr sz="3100" b="0">
                <a:solidFill>
                  <a:srgbClr val="4A4A4A"/>
                </a:solidFill>
              </a:rPr>
              <a:t>      ·      ¬T1 ∧ ¬T3 → </a:t>
            </a:r>
            <a:r>
              <a:rPr sz="3100" b="1">
                <a:solidFill>
                  <a:srgbClr val="D6001C"/>
                </a:solidFill>
              </a:rPr>
              <a:t>No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Esto es lo que hace auditable el resultado:  </a:t>
            </a:r>
            <a:r>
              <a:rPr sz="2000" b="0">
                <a:solidFill>
                  <a:srgbClr val="4A4A4A"/>
                </a:solidFill>
              </a:rPr>
              <a:t>usted puede revisar test por test dónde y por qué el Agente llegó a esa conclusión.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500" b="1">
                <a:solidFill>
                  <a:srgbClr val="FFFFFF"/>
                </a:solidFill>
              </a:rPr>
              <a:t>Cómo busca evidencia: DEDICADO vs MARCO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34"/>
              </a:spcAft>
            </a:pPr>
            <a:r>
              <a:rPr sz="1900" b="1">
                <a:solidFill>
                  <a:srgbClr val="003E7E"/>
                </a:solidFill>
              </a:rPr>
              <a:t>No basta con que una palabra aparezca en el documento.</a:t>
            </a:r>
            <a:r>
              <a:rPr sz="1900" b="0">
                <a:solidFill>
                  <a:srgbClr val="4A4A4A"/>
                </a:solidFill>
              </a:rPr>
              <a:t>  El Agente clasifica cada mención antes de contarla como evidencia.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65960"/>
          <a:ext cx="11183110" cy="3721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932"/>
                <a:gridCol w="4500520"/>
                <a:gridCol w="4909658"/>
              </a:tblGrid>
              <a:tr h="893185">
                <a:tc>
                  <a:txBody>
                    <a:bodyPr/>
                    <a:lstStyle/>
                    <a:p>
                      <a:pPr/>
                      <a:r>
                        <a:rPr b="1" sz="27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700">
                          <a:solidFill>
                            <a:srgbClr val="FFFFFF"/>
                          </a:solidFill>
                        </a:rPr>
                        <a:t>MARCO  (no cuenta)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700">
                          <a:solidFill>
                            <a:srgbClr val="FFFFFF"/>
                          </a:solidFill>
                        </a:rPr>
                        <a:t>DEDICADO  (sí cuenta)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1414211">
                <a:tc>
                  <a:txBody>
                    <a:bodyPr/>
                    <a:lstStyle/>
                    <a:p>
                      <a:pPr/>
                      <a:r>
                        <a:rPr sz="2700" b="1">
                          <a:solidFill>
                            <a:srgbClr val="003E7E"/>
                          </a:solidFill>
                        </a:rPr>
                        <a:t>Qué es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700">
                          <a:solidFill>
                            <a:srgbClr val="4A4A4A"/>
                          </a:solidFill>
                        </a:rPr>
                        <a:t>El tema aparece mencionado, sin desarrollo propio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700">
                          <a:solidFill>
                            <a:srgbClr val="4A4A4A"/>
                          </a:solidFill>
                        </a:rPr>
                        <a:t>El tema tiene un espacio propio en el diseño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1414211">
                <a:tc>
                  <a:txBody>
                    <a:bodyPr/>
                    <a:lstStyle/>
                    <a:p>
                      <a:pPr/>
                      <a:r>
                        <a:rPr sz="2700" b="1">
                          <a:solidFill>
                            <a:srgbClr val="003E7E"/>
                          </a:solidFill>
                        </a:rPr>
                        <a:t>Ejemplos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700">
                          <a:solidFill>
                            <a:srgbClr val="4A4A4A"/>
                          </a:solidFill>
                        </a:rPr>
                        <a:t>Listas de ≥3 grupos · lenguaje de inclusión genérico · enumeraciones «entre otros»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700">
                          <a:solidFill>
                            <a:srgbClr val="4A4A4A"/>
                          </a:solidFill>
                        </a:rPr>
                        <a:t>Producto o resultado que lo nombra · indicador desagregado · actividad dedicada · partida presupuestaria · meta cuantificable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D6001C"/>
                </a:solidFill>
              </a:rPr>
              <a:t>Regla dura:  </a:t>
            </a:r>
            <a:r>
              <a:rPr sz="2000" b="0">
                <a:solidFill>
                  <a:srgbClr val="4A4A4A"/>
                </a:solidFill>
              </a:rPr>
              <a:t>si toda la evidencia citable es MARCO, el resultado debe ser «No» o «Not Found», sin importar cuántas veces se nombre el tema.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3400" b="1">
                <a:solidFill>
                  <a:srgbClr val="FFFFFF"/>
                </a:solidFill>
              </a:rPr>
              <a:t>Un caso completo: del texto del PRODOC al veredicto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5349240" cy="3840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152144"/>
            <a:ext cx="5166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100" b="1">
                <a:solidFill>
                  <a:srgbClr val="FFFFFF"/>
                </a:solidFill>
              </a:rPr>
              <a:t>LO QUE DICE EL PRODOC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5349240" cy="393192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45920"/>
            <a:ext cx="5020056" cy="3712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30"/>
              </a:spcAft>
            </a:pPr>
            <a:r>
              <a:rPr sz="1500" b="1">
                <a:solidFill>
                  <a:srgbClr val="003E7E"/>
                </a:solidFill>
              </a:rPr>
              <a:t>§ 2.3 Enfoque de género</a:t>
            </a:r>
          </a:p>
          <a:p>
            <a:pPr>
              <a:spcAft>
                <a:spcPts val="330"/>
              </a:spcAft>
            </a:pPr>
            <a:r>
              <a:rPr sz="1500" b="0" i="1">
                <a:solidFill>
                  <a:srgbClr val="4A4A4A"/>
                </a:solidFill>
              </a:rPr>
              <a:t>«El proyecto adopta un enfoque de género transformador, distinguiéndolo de los enfoques meramente sensibles o responsivos.»</a:t>
            </a:r>
          </a:p>
          <a:p>
            <a:pPr>
              <a:spcAft>
                <a:spcPts val="330"/>
              </a:spcAft>
            </a:pPr>
            <a:r>
              <a:rPr sz="1500" b="0">
                <a:solidFill>
                  <a:srgbClr val="4A4A4A"/>
                </a:solidFill>
              </a:rPr>
              <a:t/>
            </a:r>
          </a:p>
          <a:p>
            <a:pPr>
              <a:spcAft>
                <a:spcPts val="330"/>
              </a:spcAft>
            </a:pPr>
            <a:r>
              <a:rPr sz="1500" b="1">
                <a:solidFill>
                  <a:srgbClr val="003E7E"/>
                </a:solidFill>
              </a:rPr>
              <a:t>§ 3.1 Beneficiarios</a:t>
            </a:r>
          </a:p>
          <a:p>
            <a:pPr>
              <a:spcAft>
                <a:spcPts val="330"/>
              </a:spcAft>
            </a:pPr>
            <a:r>
              <a:rPr sz="1500" b="0" i="1">
                <a:solidFill>
                  <a:srgbClr val="4A4A4A"/>
                </a:solidFill>
              </a:rPr>
              <a:t>«Se priorizará la participación de mujeres, jóvenes, personas con discapacidad y pueblos indígenas.»</a:t>
            </a:r>
          </a:p>
          <a:p>
            <a:pPr>
              <a:spcAft>
                <a:spcPts val="330"/>
              </a:spcAft>
            </a:pPr>
            <a:r>
              <a:rPr sz="1500" b="0">
                <a:solidFill>
                  <a:srgbClr val="4A4A4A"/>
                </a:solidFill>
              </a:rPr>
              <a:t/>
            </a:r>
          </a:p>
          <a:p>
            <a:pPr>
              <a:spcAft>
                <a:spcPts val="330"/>
              </a:spcAft>
            </a:pPr>
            <a:r>
              <a:rPr sz="1500" b="1">
                <a:solidFill>
                  <a:srgbClr val="003E7E"/>
                </a:solidFill>
              </a:rPr>
              <a:t>§ 4.2 Actividad 2.4</a:t>
            </a:r>
          </a:p>
          <a:p>
            <a:pPr>
              <a:spcAft>
                <a:spcPts val="330"/>
              </a:spcAft>
            </a:pPr>
            <a:r>
              <a:rPr sz="1500" b="0" i="1">
                <a:solidFill>
                  <a:srgbClr val="4A4A4A"/>
                </a:solidFill>
              </a:rPr>
              <a:t>«Mesas de trabajo con cooperativas para revisar los criterios de acceso al crédito que excluyen a las mujeres titulares. Presupuesto: USD 18.000.»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152144"/>
            <a:ext cx="5486400" cy="3840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152144"/>
            <a:ext cx="5303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200" b="1">
                <a:solidFill>
                  <a:srgbClr val="FFFFFF"/>
                </a:solidFill>
              </a:rPr>
              <a:t>CÓMO LO EVALÚA EL AGENTE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627632"/>
            <a:ext cx="5486400" cy="93268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627632"/>
            <a:ext cx="45720" cy="932688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627632"/>
            <a:ext cx="45720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72BC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627632"/>
            <a:ext cx="47731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500" b="1">
                <a:solidFill>
                  <a:srgbClr val="003E7E"/>
                </a:solidFill>
              </a:rPr>
              <a:t>T1 · Distingue el tipo de enfoque</a:t>
            </a:r>
          </a:p>
          <a:p>
            <a:pPr>
              <a:spcBef>
                <a:spcPts val="100"/>
              </a:spcBef>
            </a:pPr>
            <a:r>
              <a:rPr sz="1400" b="0">
                <a:solidFill>
                  <a:srgbClr val="4A4A4A"/>
                </a:solidFill>
              </a:rPr>
              <a:t>§ 2.3 nombra y distingue los tres enfoques.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2660904"/>
            <a:ext cx="5486400" cy="93268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660904"/>
            <a:ext cx="45720" cy="932688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660904"/>
            <a:ext cx="45720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6001C"/>
                </a:solidFill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60904"/>
            <a:ext cx="47731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500" b="1">
                <a:solidFill>
                  <a:srgbClr val="003E7E"/>
                </a:solidFill>
              </a:rPr>
              <a:t>T2 · Articula cómo cuestiona normas de poder</a:t>
            </a:r>
          </a:p>
          <a:p>
            <a:pPr>
              <a:spcBef>
                <a:spcPts val="100"/>
              </a:spcBef>
            </a:pPr>
            <a:r>
              <a:rPr sz="1400" b="0">
                <a:solidFill>
                  <a:srgbClr val="4A4A4A"/>
                </a:solidFill>
              </a:rPr>
              <a:t>declara el enfoque, pero no explica el mecanismo en ninguna sección.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3694176"/>
            <a:ext cx="5486400" cy="93268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694176"/>
            <a:ext cx="45720" cy="932688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694176"/>
            <a:ext cx="45720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72BC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94176"/>
            <a:ext cx="47731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500" b="1">
                <a:solidFill>
                  <a:srgbClr val="003E7E"/>
                </a:solidFill>
              </a:rPr>
              <a:t>T3 · Acciones dedicadas a transformar relaciones</a:t>
            </a:r>
          </a:p>
          <a:p>
            <a:pPr>
              <a:spcBef>
                <a:spcPts val="100"/>
              </a:spcBef>
            </a:pPr>
            <a:r>
              <a:rPr sz="1400" b="0">
                <a:solidFill>
                  <a:srgbClr val="4A4A4A"/>
                </a:solidFill>
              </a:rPr>
              <a:t>§ 4.2 revisa reglas de acceso al crédito, con presupuesto propio.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4727448"/>
            <a:ext cx="5486400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4727448"/>
            <a:ext cx="45720" cy="93268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727448"/>
            <a:ext cx="45720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4A4A4A"/>
                </a:solidFill>
              </a:rPr>
              <a:t>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727448"/>
            <a:ext cx="477316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500" b="1">
                <a:solidFill>
                  <a:srgbClr val="003E7E"/>
                </a:solidFill>
              </a:rPr>
              <a:t>§ 3.1 no cuenta como evidencia</a:t>
            </a:r>
          </a:p>
          <a:p>
            <a:pPr>
              <a:spcBef>
                <a:spcPts val="100"/>
              </a:spcBef>
            </a:pPr>
            <a:r>
              <a:rPr sz="1400" b="0">
                <a:solidFill>
                  <a:srgbClr val="4A4A4A"/>
                </a:solidFill>
              </a:rPr>
              <a:t>lista de cuatro grupos sin seguimiento: es MARCO, no DEDICADO.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DECISIÓN:  </a:t>
            </a:r>
            <a:r>
              <a:rPr sz="2000" b="0">
                <a:solidFill>
                  <a:srgbClr val="4A4A4A"/>
                </a:solidFill>
              </a:rPr>
              <a:t>se requieren T1 ∧ T2 ∧ T3. Se cumplen T1 y T3, falta T2  →  </a:t>
            </a:r>
            <a:r>
              <a:rPr sz="2000" b="1">
                <a:solidFill>
                  <a:srgbClr val="D6001C"/>
                </a:solidFill>
              </a:rPr>
              <a:t>PARTIAL</a:t>
            </a:r>
            <a:r>
              <a:rPr sz="2000" b="0">
                <a:solidFill>
                  <a:srgbClr val="4A4A4A"/>
                </a:solidFill>
              </a:rPr>
              <a:t>   ·   extracto ilustrativo, no es un PRODOC real.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400" b="1">
                <a:solidFill>
                  <a:srgbClr val="FFFFFF"/>
                </a:solidFill>
              </a:rPr>
              <a:t>Por qué cada criterio se evalúa 10 veces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320"/>
              </a:spcAft>
            </a:pPr>
            <a:r>
              <a:rPr sz="2600">
                <a:solidFill>
                  <a:srgbClr val="0072B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Un modelo de lenguaje no es determinista.</a:t>
            </a:r>
            <a:r>
              <a:rPr sz="2600" b="0">
                <a:solidFill>
                  <a:srgbClr val="4A4A4A"/>
                </a:solidFill>
              </a:rPr>
              <a:t>  La misma pregunta sobre el mismo documento puede producir respuestas distintas.</a:t>
            </a:r>
          </a:p>
          <a:p>
            <a:pPr>
              <a:spcAft>
                <a:spcPts val="2320"/>
              </a:spcAft>
            </a:pPr>
            <a:r>
              <a:rPr sz="2600">
                <a:solidFill>
                  <a:srgbClr val="0072B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Preguntar una sola vez sería frágil.</a:t>
            </a:r>
            <a:r>
              <a:rPr sz="2600" b="0">
                <a:solidFill>
                  <a:srgbClr val="4A4A4A"/>
                </a:solidFill>
              </a:rPr>
              <a:t>  Estaríamos entregando el resultado de un único lanzamiento.</a:t>
            </a:r>
          </a:p>
          <a:p>
            <a:pPr>
              <a:spcAft>
                <a:spcPts val="2320"/>
              </a:spcAft>
            </a:pPr>
            <a:r>
              <a:rPr sz="2600">
                <a:solidFill>
                  <a:srgbClr val="0072B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Solución: repetir y consolidar.</a:t>
            </a:r>
            <a:r>
              <a:rPr sz="2600" b="0">
                <a:solidFill>
                  <a:srgbClr val="4A4A4A"/>
                </a:solidFill>
              </a:rPr>
              <a:t>  Cada criterio se evalúa 10 veces de forma independiente y se toma el resultado más frecuente (la moda).</a:t>
            </a:r>
          </a:p>
          <a:p>
            <a:pPr>
              <a:spcAft>
                <a:spcPts val="2320"/>
              </a:spcAft>
            </a:pPr>
            <a:r>
              <a:rPr sz="2600">
                <a:solidFill>
                  <a:srgbClr val="0072B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El desacuerdo es información, no ruido.</a:t>
            </a:r>
            <a:r>
              <a:rPr sz="2600" b="0">
                <a:solidFill>
                  <a:srgbClr val="4A4A4A"/>
                </a:solidFill>
              </a:rPr>
              <a:t>  Cuántas de las 10 corridas coincidieron es un dato que se reporta y que usted debe leer.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Una valoración completa </a:t>
            </a:r>
            <a:r>
              <a:rPr sz="2000" b="0">
                <a:solidFill>
                  <a:srgbClr val="4A4A4A"/>
                </a:solidFill>
              </a:rPr>
              <a:t>son 76 criterios × 10 corridas ≈ </a:t>
            </a:r>
            <a:r>
              <a:rPr sz="2000" b="1">
                <a:solidFill>
                  <a:srgbClr val="D6001C"/>
                </a:solidFill>
              </a:rPr>
              <a:t>760 consultas al modelo</a:t>
            </a:r>
            <a:r>
              <a:rPr sz="2000" b="0">
                <a:solidFill>
                  <a:srgbClr val="4A4A4A"/>
                </a:solidFill>
              </a:rPr>
              <a:t>. Por eso tarda y por eso conviene filtrar por sección.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De dónde procede la aleatoriedad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11183111" cy="4517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2042"/>
                <a:gridCol w="4659630"/>
                <a:gridCol w="3461439"/>
              </a:tblGrid>
              <a:tr h="650467">
                <a:tc>
                  <a:txBody>
                    <a:bodyPr/>
                    <a:lstStyle/>
                    <a:p>
                      <a:pPr/>
                      <a:r>
                        <a:rPr b="1" sz="2100">
                          <a:solidFill>
                            <a:srgbClr val="FFFFFF"/>
                          </a:solidFill>
                        </a:rPr>
                        <a:t>Fuente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100">
                          <a:solidFill>
                            <a:srgbClr val="FFFFFF"/>
                          </a:solidFill>
                        </a:rPr>
                        <a:t>Qué ocurre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100">
                          <a:solidFill>
                            <a:srgbClr val="FFFFFF"/>
                          </a:solidFill>
                        </a:rPr>
                        <a:t>Cómo lo controlamos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966667"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Generación probabilística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El modelo elige entre continuaciones posibles; no siempre la misma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10 corridas + resultado modal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966667"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Criterios ambiguos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Cuando la rúbrica admite lectura, el modelo puede inclinarse distinto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Tests cerrados y reglas de decisión explícitas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966667"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Evidencia dispersa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Si la evidencia está repartida, distintas corridas citan pasajes distintos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Filtro DEDICADO / MARCO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966667"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Documentos extensos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Más texto, más margen de lectura parcial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Extracción estructurada y evaluación por criterio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No se elimina la aleatoriedad: se mide y se reporta. </a:t>
            </a:r>
            <a:r>
              <a:rPr sz="2000" b="0">
                <a:solidFill>
                  <a:srgbClr val="4A4A4A"/>
                </a:solidFill>
              </a:rPr>
              <a:t>Eso es preferible a ocultarla detrás de una respuesta única.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Qué significa «estabilidad»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2500" b="1">
                <a:solidFill>
                  <a:srgbClr val="003E7E"/>
                </a:solidFill>
              </a:rPr>
              <a:t>Estabilidad (%)  =  </a:t>
            </a:r>
            <a:r>
              <a:rPr sz="2500" b="0">
                <a:solidFill>
                  <a:srgbClr val="4A4A4A"/>
                </a:solidFill>
              </a:rPr>
              <a:t>de las 10 corridas, cuántas coincidieron con el resultado final.</a:t>
            </a:r>
          </a:p>
          <a:p>
            <a:pPr>
              <a:spcBef>
                <a:spcPts val="1000"/>
              </a:spcBef>
            </a:pPr>
            <a:r>
              <a:rPr sz="2100" b="0">
                <a:solidFill>
                  <a:srgbClr val="4A4A4A"/>
                </a:solidFill>
              </a:rPr>
              <a:t>Umbral institucional: </a:t>
            </a:r>
            <a:r>
              <a:rPr sz="2100" b="1">
                <a:solidFill>
                  <a:srgbClr val="D6001C"/>
                </a:solidFill>
              </a:rPr>
              <a:t>80%</a:t>
            </a:r>
            <a:r>
              <a:rPr sz="2100" b="0">
                <a:solidFill>
                  <a:srgbClr val="4A4A4A"/>
                </a:solidFill>
              </a:rPr>
              <a:t>. Por debajo, el criterio se marca para revisión humana.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788920"/>
          <a:ext cx="11183110" cy="2898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0116"/>
                <a:gridCol w="3727703"/>
                <a:gridCol w="5325291"/>
              </a:tblGrid>
              <a:tr h="521756"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Estabilidad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Lectura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Qué hacer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792297">
                <a:tc>
                  <a:txBody>
                    <a:bodyPr/>
                    <a:lstStyle/>
                    <a:p>
                      <a:pPr/>
                      <a:r>
                        <a:rPr sz="2400" b="1">
                          <a:solidFill>
                            <a:srgbClr val="003E7E"/>
                          </a:solidFill>
                        </a:rPr>
                        <a:t>100 – 80%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El modelo fue consistente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Tratar como diagnóstico sólido; verificar la evidencia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92297">
                <a:tc>
                  <a:txBody>
                    <a:bodyPr/>
                    <a:lstStyle/>
                    <a:p>
                      <a:pPr/>
                      <a:r>
                        <a:rPr sz="2400" b="1">
                          <a:solidFill>
                            <a:srgbClr val="D6001C"/>
                          </a:solidFill>
                        </a:rPr>
                        <a:t>79 – 50%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Hubo desacuerdo entre corridas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Revisión humana obligatoria; leer el Resultado Alternativo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92297">
                <a:tc>
                  <a:txBody>
                    <a:bodyPr/>
                    <a:lstStyle/>
                    <a:p>
                      <a:pPr/>
                      <a:r>
                        <a:rPr sz="2400" b="1">
                          <a:solidFill>
                            <a:srgbClr val="D6001C"/>
                          </a:solidFill>
                        </a:rPr>
                        <a:t>&lt; 50%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No hubo consenso real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El criterio es ambiguo o la evidencia insuficiente: decida usted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La estabilidad no mide si el Agente acertó. </a:t>
            </a:r>
            <a:r>
              <a:rPr sz="2000" b="0">
                <a:solidFill>
                  <a:srgbClr val="4A4A4A"/>
                </a:solidFill>
              </a:rPr>
              <a:t>Mide cuánta confianza interna tuvo. Un 100% equivocado es posible: por eso siempre se verifica la evidencia.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Criterios subjetivos y revisión humana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142"/>
              </a:spcAft>
            </a:pPr>
            <a:r>
              <a:rPr sz="2600">
                <a:solidFill>
                  <a:srgbClr val="0072B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Cada criterio trae una etiqueta de subjetividad: </a:t>
            </a:r>
            <a:r>
              <a:rPr sz="2600" b="1">
                <a:solidFill>
                  <a:srgbClr val="D6001C"/>
                </a:solidFill>
              </a:rPr>
              <a:t>Alta · Media · Baja</a:t>
            </a:r>
            <a:r>
              <a:rPr sz="2600" b="0">
                <a:solidFill>
                  <a:srgbClr val="4A4A4A"/>
                </a:solidFill>
              </a:rPr>
              <a:t>.</a:t>
            </a:r>
          </a:p>
          <a:p>
            <a:pPr>
              <a:spcAft>
                <a:spcPts val="2142"/>
              </a:spcAft>
            </a:pPr>
            <a:r>
              <a:rPr sz="2600">
                <a:solidFill>
                  <a:srgbClr val="0072B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Alta subjetividad</a:t>
            </a:r>
            <a:r>
              <a:rPr sz="2600" b="0">
                <a:solidFill>
                  <a:srgbClr val="4A4A4A"/>
                </a:solidFill>
              </a:rPr>
              <a:t> = el juicio depende del contexto institucional, no solo del texto. Ejemplo: si un enfoque de género es «transformador».</a:t>
            </a:r>
          </a:p>
          <a:p>
            <a:pPr>
              <a:spcAft>
                <a:spcPts val="2142"/>
              </a:spcAft>
            </a:pPr>
            <a:r>
              <a:rPr sz="2600">
                <a:solidFill>
                  <a:srgbClr val="0072B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Estos criterios reciben más razonamiento</a:t>
            </a:r>
            <a:r>
              <a:rPr sz="2600" b="0">
                <a:solidFill>
                  <a:srgbClr val="4A4A4A"/>
                </a:solidFill>
              </a:rPr>
              <a:t> del modelo y se marcan automáticamente en la columna «Revisión humana recomendada».</a:t>
            </a:r>
          </a:p>
          <a:p>
            <a:pPr>
              <a:spcAft>
                <a:spcPts val="2142"/>
              </a:spcAft>
            </a:pPr>
            <a:r>
              <a:rPr sz="2600">
                <a:solidFill>
                  <a:srgbClr val="0072B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Dos disparadores de esa marca:</a:t>
            </a:r>
            <a:r>
              <a:rPr sz="2600" b="0">
                <a:solidFill>
                  <a:srgbClr val="4A4A4A"/>
                </a:solidFill>
              </a:rPr>
              <a:t>  subjetividad alta, o estabilidad por debajo de 80%.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D6001C"/>
                </a:solidFill>
              </a:rPr>
              <a:t>Úsela como cola de trabajo:  </a:t>
            </a:r>
            <a:r>
              <a:rPr sz="2000" b="0">
                <a:solidFill>
                  <a:srgbClr val="4A4A4A"/>
                </a:solidFill>
              </a:rPr>
              <a:t>empiece por los criterios marcados. Ahí es donde su juicio profesional aporta más valor.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200" b="1">
                <a:solidFill>
                  <a:srgbClr val="FFFFFF"/>
                </a:solidFill>
              </a:rPr>
              <a:t>Ventajas y desventajas de esta tecnología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11183111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044"/>
                <a:gridCol w="4715770"/>
                <a:gridCol w="4446297"/>
              </a:tblGrid>
              <a:tr h="542056"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Ventaja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300">
                          <a:solidFill>
                            <a:srgbClr val="FFFFFF"/>
                          </a:solidFill>
                        </a:rPr>
                        <a:t>Desventaja / costo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300" b="1">
                          <a:solidFill>
                            <a:srgbClr val="003E7E"/>
                          </a:solidFill>
                        </a:rPr>
                        <a:t>Cobertura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Revisa los 76 criterios sin fatiga ni sesgo de cansancio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Revisa lo escrito, no lo sabido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300" b="1">
                          <a:solidFill>
                            <a:srgbClr val="003E7E"/>
                          </a:solidFill>
                        </a:rPr>
                        <a:t>Tiempo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Libera horas del especialista para atender brechas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Una corrida completa tarda varios minutos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300" b="1">
                          <a:solidFill>
                            <a:srgbClr val="003E7E"/>
                          </a:solidFill>
                        </a:rPr>
                        <a:t>Trazabilidad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Cita la evidencia y muestra el razonamiento por test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Genera mucho detalle: exige saber leerlo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300" b="1">
                          <a:solidFill>
                            <a:srgbClr val="003E7E"/>
                          </a:solidFill>
                        </a:rPr>
                        <a:t>Consistencia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Aplica la misma rúbrica a todos los proyectos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No es determinista: por eso repetimos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95016">
                <a:tc>
                  <a:txBody>
                    <a:bodyPr/>
                    <a:lstStyle/>
                    <a:p>
                      <a:pPr/>
                      <a:r>
                        <a:rPr sz="2300" b="1">
                          <a:solidFill>
                            <a:srgbClr val="003E7E"/>
                          </a:solidFill>
                        </a:rPr>
                        <a:t>Costo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Bajo por documento frente al tiempo humano equivalente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300">
                          <a:solidFill>
                            <a:srgbClr val="4A4A4A"/>
                          </a:solidFill>
                        </a:rPr>
                        <a:t>Se paga por consulta: el presupuesto es finito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Tokens y presupuesto:  </a:t>
            </a:r>
            <a:r>
              <a:rPr sz="2000" b="0">
                <a:solidFill>
                  <a:srgbClr val="4A4A4A"/>
                </a:solidFill>
              </a:rPr>
              <a:t>el costo depende del tamaño del PRODOC y de cuántos criterios se evalúen. Filtrar por sección es la palanca directa de ahorro.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500" b="1">
                <a:solidFill>
                  <a:srgbClr val="FFFFFF"/>
                </a:solidFill>
              </a:rPr>
              <a:t>¿Y si uso el GPT Empresarial de la OIT?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11183111" cy="4517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044"/>
                <a:gridCol w="4311561"/>
                <a:gridCol w="4850506"/>
              </a:tblGrid>
              <a:tr h="464619">
                <a:tc>
                  <a:txBody>
                    <a:bodyPr/>
                    <a:lstStyle/>
                    <a:p>
                      <a:pPr/>
                      <a:r>
                        <a:rPr b="1" sz="1900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1900">
                          <a:solidFill>
                            <a:srgbClr val="FFFFFF"/>
                          </a:solidFill>
                        </a:rPr>
                        <a:t>GPT Empresarial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1900">
                          <a:solidFill>
                            <a:srgbClr val="FFFFFF"/>
                          </a:solidFill>
                        </a:rPr>
                        <a:t>Agente Appraisal Checklist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1900" b="1">
                          <a:solidFill>
                            <a:srgbClr val="003E7E"/>
                          </a:solidFill>
                        </a:rPr>
                        <a:t>Rúbrica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Habría que subirla en cada conversación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Cargada en el servidor, versión única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1900" b="1">
                          <a:solidFill>
                            <a:srgbClr val="003E7E"/>
                          </a:solidFill>
                        </a:rPr>
                        <a:t>Aplicación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Lectura general del archivo adjunto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Cada criterio se ejecuta por separado, con sus tests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1900" b="1">
                          <a:solidFill>
                            <a:srgbClr val="003E7E"/>
                          </a:solidFill>
                        </a:rPr>
                        <a:t>Repetición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Una sola pasada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10 corridas por criterio + resultado modal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1900" b="1">
                          <a:solidFill>
                            <a:srgbClr val="003E7E"/>
                          </a:solidFill>
                        </a:rPr>
                        <a:t>Estabilidad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No disponible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Reportada por criterio, con umbral de 80%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1900" b="1">
                          <a:solidFill>
                            <a:srgbClr val="003E7E"/>
                          </a:solidFill>
                        </a:rPr>
                        <a:t>Salida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Texto en la conversación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Excel estructurado, auditable y archivable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75419">
                <a:tc>
                  <a:txBody>
                    <a:bodyPr/>
                    <a:lstStyle/>
                    <a:p>
                      <a:pPr/>
                      <a:r>
                        <a:rPr sz="1900" b="1">
                          <a:solidFill>
                            <a:srgbClr val="003E7E"/>
                          </a:solidFill>
                        </a:rPr>
                        <a:t>Acceso hoy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 b="1">
                          <a:solidFill>
                            <a:srgbClr val="D6001C"/>
                          </a:solidFill>
                        </a:rPr>
                        <a:t>Sin acceso al Agente desde el entorno empresarial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900">
                          <a:solidFill>
                            <a:srgbClr val="4A4A4A"/>
                          </a:solidFill>
                        </a:rPr>
                        <a:t>Enlace de ChatGPT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El valor agregado no es «usar IA»:  </a:t>
            </a:r>
            <a:r>
              <a:rPr sz="2000" b="0">
                <a:solidFill>
                  <a:srgbClr val="4A4A4A"/>
                </a:solidFill>
              </a:rPr>
              <a:t>es la rúbrica institucional aplicada criterio por criterio, repetida y medida. Eso el GPT genérico no lo reproduce.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3900" b="1">
                <a:solidFill>
                  <a:srgbClr val="FFFFFF"/>
                </a:solidFill>
              </a:rPr>
              <a:t>Los tres límites que hay que tener presentes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786384" cy="1255776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786384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9304" y="1737360"/>
            <a:ext cx="10396728" cy="1255776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1737360"/>
            <a:ext cx="9948672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800" b="1">
                <a:solidFill>
                  <a:srgbClr val="003E7E"/>
                </a:solidFill>
              </a:rPr>
              <a:t>Es una primera revisión completa,  </a:t>
            </a:r>
            <a:r>
              <a:rPr sz="2800" b="0">
                <a:solidFill>
                  <a:srgbClr val="4A4A4A"/>
                </a:solidFill>
              </a:rPr>
              <a:t>no un diagnóstico determinista. Señala brechas para que usted las examine.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084576"/>
            <a:ext cx="786384" cy="1255776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084576"/>
            <a:ext cx="786384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9304" y="3084576"/>
            <a:ext cx="10396728" cy="1255776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3084576"/>
            <a:ext cx="9948672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800" b="1">
                <a:solidFill>
                  <a:srgbClr val="003E7E"/>
                </a:solidFill>
              </a:rPr>
              <a:t>Trabaja sobre la evidencia del documento,  </a:t>
            </a:r>
            <a:r>
              <a:rPr sz="2800" b="0">
                <a:solidFill>
                  <a:srgbClr val="4A4A4A"/>
                </a:solidFill>
              </a:rPr>
              <a:t>no sobre el proyecto real ni sobre lo que usted sabe de él.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31792"/>
            <a:ext cx="786384" cy="1255776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431792"/>
            <a:ext cx="786384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9304" y="4431792"/>
            <a:ext cx="10396728" cy="1255776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4431792"/>
            <a:ext cx="9948672" cy="1255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800" b="1">
                <a:solidFill>
                  <a:srgbClr val="003E7E"/>
                </a:solidFill>
              </a:rPr>
              <a:t>No sustituye el juicio del appraiser.  </a:t>
            </a:r>
            <a:r>
              <a:rPr sz="2800" b="0">
                <a:solidFill>
                  <a:srgbClr val="4A4A4A"/>
                </a:solidFill>
              </a:rPr>
              <a:t>El resultado es un insumo; la determinación sigue siendo humana.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D6001C"/>
                </a:solidFill>
              </a:rPr>
              <a:t>Ninguna salida constituye una determinación oficial de la OIT. </a:t>
            </a:r>
            <a:r>
              <a:rPr sz="2000" b="0">
                <a:solidFill>
                  <a:srgbClr val="4A4A4A"/>
                </a:solidFill>
              </a:rPr>
              <a:t>Es una valoración asistida que requiere validación experta.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514600"/>
            <a:ext cx="3108960" cy="82296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5000" b="1">
                <a:solidFill>
                  <a:srgbClr val="FFFFFF"/>
                </a:solidFill>
              </a:rPr>
              <a:t>Parte 2 · La herramienta en uso</a:t>
            </a:r>
          </a:p>
          <a:p>
            <a:pPr>
              <a:spcBef>
                <a:spcPts val="1600"/>
              </a:spcBef>
            </a:pPr>
            <a:r>
              <a:rPr sz="2700" b="0">
                <a:solidFill>
                  <a:srgbClr val="FFFFFF"/>
                </a:solidFill>
              </a:rPr>
              <a:t>Cargar  →  seleccionar  →  ejecutar  →  descargar  →  interpretar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El flujo completo, en cinco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9304" y="117043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117043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Cargar el PRODOC  </a:t>
            </a:r>
            <a:r>
              <a:rPr sz="2600" b="0">
                <a:solidFill>
                  <a:srgbClr val="4A4A4A"/>
                </a:solidFill>
              </a:rPr>
              <a:t>un único archivo .docx por evaluación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9304" y="209214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209214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Seleccionar el alcance  </a:t>
            </a:r>
            <a:r>
              <a:rPr sz="2600" b="0">
                <a:solidFill>
                  <a:srgbClr val="4A4A4A"/>
                </a:solidFill>
              </a:rPr>
              <a:t>rúbrica completa, una sección o subsecciones concretas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9304" y="301386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01386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Ejecutar  </a:t>
            </a:r>
            <a:r>
              <a:rPr sz="2600" b="0">
                <a:solidFill>
                  <a:srgbClr val="4A4A4A"/>
                </a:solidFill>
              </a:rPr>
              <a:t>el Agente lanza el trabajo y consulta su avance hasta terminar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9304" y="393557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0472" y="393557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Descargar el Excel  </a:t>
            </a:r>
            <a:r>
              <a:rPr sz="2600" b="0">
                <a:solidFill>
                  <a:srgbClr val="4A4A4A"/>
                </a:solidFill>
              </a:rPr>
              <a:t>es el registro auditable de la evaluación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9304" y="485729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0472" y="485729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Interpretar  </a:t>
            </a:r>
            <a:r>
              <a:rPr sz="2600" b="0">
                <a:solidFill>
                  <a:srgbClr val="4A4A4A"/>
                </a:solidFill>
              </a:rPr>
              <a:t>localizar evidencia y priorizar los criterios marcados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Indique el alcance en el mismo mensaje en que sube el archivo:  </a:t>
            </a:r>
            <a:r>
              <a:rPr sz="2000" b="0">
                <a:solidFill>
                  <a:srgbClr val="4A4A4A"/>
                </a:solidFill>
              </a:rPr>
              <a:t>ahorra una ronda de preguntas y acota el costo desde el inicio.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Pasos 1 y 2 · Cargar y acotar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507"/>
              </a:spcAft>
            </a:pPr>
            <a:r>
              <a:rPr sz="2400">
                <a:solidFill>
                  <a:srgbClr val="0072BC"/>
                </a:solidFill>
              </a:rPr>
              <a:t>▪  </a:t>
            </a:r>
            <a:r>
              <a:rPr sz="2400" b="1">
                <a:solidFill>
                  <a:srgbClr val="003E7E"/>
                </a:solidFill>
              </a:rPr>
              <a:t>Abra el Agente y salude.</a:t>
            </a:r>
            <a:r>
              <a:rPr sz="2400" b="0">
                <a:solidFill>
                  <a:srgbClr val="4A4A4A"/>
                </a:solidFill>
              </a:rPr>
              <a:t>  Se presenta solo: explica qué evalúa, qué secciones existen y qué puede filtrar. Eso no consume una evaluación.</a:t>
            </a:r>
          </a:p>
          <a:p>
            <a:pPr>
              <a:spcAft>
                <a:spcPts val="1507"/>
              </a:spcAft>
            </a:pPr>
            <a:r>
              <a:rPr sz="2400">
                <a:solidFill>
                  <a:srgbClr val="0072BC"/>
                </a:solidFill>
              </a:rPr>
              <a:t>▪  </a:t>
            </a:r>
            <a:r>
              <a:rPr sz="2400" b="1">
                <a:solidFill>
                  <a:srgbClr val="003E7E"/>
                </a:solidFill>
              </a:rPr>
              <a:t>Adjunte un solo .docx.</a:t>
            </a:r>
            <a:r>
              <a:rPr sz="2400" b="0">
                <a:solidFill>
                  <a:srgbClr val="4A4A4A"/>
                </a:solidFill>
              </a:rPr>
              <a:t>  Si sube varios, el Agente le pedirá elegir uno: la evaluación es de un documento por vez.</a:t>
            </a:r>
          </a:p>
          <a:p>
            <a:pPr>
              <a:spcAft>
                <a:spcPts val="1507"/>
              </a:spcAft>
            </a:pPr>
            <a:r>
              <a:rPr sz="2400">
                <a:solidFill>
                  <a:srgbClr val="0072BC"/>
                </a:solidFill>
              </a:rPr>
              <a:t>▪  </a:t>
            </a:r>
            <a:r>
              <a:rPr sz="2400" b="1">
                <a:solidFill>
                  <a:srgbClr val="003E7E"/>
                </a:solidFill>
              </a:rPr>
              <a:t>Diga qué quiere evaluar.</a:t>
            </a:r>
            <a:r>
              <a:rPr sz="2400" b="0">
                <a:solidFill>
                  <a:srgbClr val="4A4A4A"/>
                </a:solidFill>
              </a:rPr>
              <a:t>  Ejemplos de instrucción:</a:t>
            </a:r>
          </a:p>
          <a:p>
            <a:pPr lvl="1">
              <a:spcAft>
                <a:spcPts val="1507"/>
              </a:spcAft>
            </a:pPr>
            <a:r>
              <a:rPr sz="2400" b="0" i="1">
                <a:solidFill>
                  <a:srgbClr val="4A4A4A"/>
                </a:solidFill>
              </a:rPr>
              <a:t>«Evalúa este PRODOC con la rúbrica completa»</a:t>
            </a:r>
          </a:p>
          <a:p>
            <a:pPr lvl="1">
              <a:spcAft>
                <a:spcPts val="1507"/>
              </a:spcAft>
            </a:pPr>
            <a:r>
              <a:rPr sz="2400" b="0" i="1">
                <a:solidFill>
                  <a:srgbClr val="4A4A4A"/>
                </a:solidFill>
              </a:rPr>
              <a:t>«Evalúa solo la sección 3 (Marco de resultados) y resume las brechas»</a:t>
            </a:r>
          </a:p>
          <a:p>
            <a:pPr lvl="1">
              <a:spcAft>
                <a:spcPts val="1507"/>
              </a:spcAft>
            </a:pPr>
            <a:r>
              <a:rPr sz="2400" b="0" i="1">
                <a:solidFill>
                  <a:srgbClr val="4A4A4A"/>
                </a:solidFill>
              </a:rPr>
              <a:t>«Evalúa solo 1.1 y 2.3»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D6001C"/>
                </a:solidFill>
              </a:rPr>
              <a:t>Recomendación para empezar:  </a:t>
            </a:r>
            <a:r>
              <a:rPr sz="2000" b="0">
                <a:solidFill>
                  <a:srgbClr val="4A4A4A"/>
                </a:solidFill>
              </a:rPr>
              <a:t>una sección primero. Llega antes, cuesta menos y permite calibrar la lectura antes de una corrida completa.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500" b="1">
                <a:solidFill>
                  <a:srgbClr val="FFFFFF"/>
                </a:solidFill>
              </a:rPr>
              <a:t>Paso 3 · Qué ocurre mientras se ejecuta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9304" y="117043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117043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El Agente descarga el documento  </a:t>
            </a:r>
            <a:r>
              <a:rPr sz="2600" b="0">
                <a:solidFill>
                  <a:srgbClr val="4A4A4A"/>
                </a:solidFill>
              </a:rPr>
              <a:t>y extrae su texto por secciones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9304" y="209214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209214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Carga la rúbrica del servidor  </a:t>
            </a:r>
            <a:r>
              <a:rPr sz="2600" b="0">
                <a:solidFill>
                  <a:srgbClr val="4A4A4A"/>
                </a:solidFill>
              </a:rPr>
              <a:t>y filtra los criterios que usted pidió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9304" y="301386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01386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Lanza las evaluaciones en paralelo  </a:t>
            </a:r>
            <a:r>
              <a:rPr sz="2600" b="0">
                <a:solidFill>
                  <a:srgbClr val="4A4A4A"/>
                </a:solidFill>
              </a:rPr>
              <a:t>cada criterio, 10 veces, hasta 48 consultas simultáneas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9304" y="393557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0472" y="393557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Consolida cada criterio  </a:t>
            </a:r>
            <a:r>
              <a:rPr sz="2600" b="0">
                <a:solidFill>
                  <a:srgbClr val="4A4A4A"/>
                </a:solidFill>
              </a:rPr>
              <a:t>resultado modal + porcentaje de estabilidad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9304" y="485729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0472" y="485729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Construye el Excel  </a:t>
            </a:r>
            <a:r>
              <a:rPr sz="2600" b="0">
                <a:solidFill>
                  <a:srgbClr val="4A4A4A"/>
                </a:solidFill>
              </a:rPr>
              <a:t>y lo adjunta a la conversación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No hay que preguntar «¿ya terminó?»:  </a:t>
            </a:r>
            <a:r>
              <a:rPr sz="2000" b="0">
                <a:solidFill>
                  <a:srgbClr val="4A4A4A"/>
                </a:solidFill>
              </a:rPr>
              <a:t>el Agente informa el avance solo — «180/760 (24%), quedan unos 3 minutos» — hasta entregar el archivo.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3700" b="1">
                <a:solidFill>
                  <a:srgbClr val="FFFFFF"/>
                </a:solidFill>
              </a:rPr>
              <a:t>Paso 4 · El Excel: hoja «Resultado Diagnostico»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60"/>
              </a:spcAft>
            </a:pPr>
            <a:r>
              <a:rPr sz="1900" b="1">
                <a:solidFill>
                  <a:srgbClr val="003E7E"/>
                </a:solidFill>
              </a:rPr>
              <a:t>Una sola hoja</a:t>
            </a:r>
            <a:r>
              <a:rPr sz="1900" b="0">
                <a:solidFill>
                  <a:srgbClr val="4A4A4A"/>
                </a:solidFill>
              </a:rPr>
              <a:t>, con una fila por criterio evaluado. Es el registro auditable: consérvelo.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74519"/>
          <a:ext cx="11183110" cy="3813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4725"/>
                <a:gridCol w="4985242"/>
                <a:gridCol w="3503143"/>
              </a:tblGrid>
              <a:tr h="457565">
                <a:tc>
                  <a:txBody>
                    <a:bodyPr/>
                    <a:lstStyle/>
                    <a:p>
                      <a:pPr/>
                      <a:r>
                        <a:rPr b="1" sz="2100">
                          <a:solidFill>
                            <a:srgbClr val="FFFFFF"/>
                          </a:solidFill>
                        </a:rPr>
                        <a:t>Grupo de columnas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100">
                          <a:solidFill>
                            <a:srgbClr val="FFFFFF"/>
                          </a:solidFill>
                        </a:rPr>
                        <a:t>Qué contiene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100">
                          <a:solidFill>
                            <a:srgbClr val="FFFFFF"/>
                          </a:solidFill>
                        </a:rPr>
                        <a:t>Para qué sirve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671096">
                <a:tc>
                  <a:txBody>
                    <a:bodyPr/>
                    <a:lstStyle/>
                    <a:p>
                      <a:pPr/>
                      <a:r>
                        <a:rPr sz="2100" b="1">
                          <a:solidFill>
                            <a:srgbClr val="003E7E"/>
                          </a:solidFill>
                        </a:rPr>
                        <a:t>Identificación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ID · Subsección · Criterio · Transversales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Ubicar el criterio en el Checklist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71096">
                <a:tc>
                  <a:txBody>
                    <a:bodyPr/>
                    <a:lstStyle/>
                    <a:p>
                      <a:pPr/>
                      <a:r>
                        <a:rPr sz="2100" b="1">
                          <a:solidFill>
                            <a:srgbClr val="003E7E"/>
                          </a:solidFill>
                        </a:rPr>
                        <a:t>Resultado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Respuesta (Yes / Partial / No / Not Found / N/A)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El diagnóstico del criterio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671096">
                <a:tc>
                  <a:txBody>
                    <a:bodyPr/>
                    <a:lstStyle/>
                    <a:p>
                      <a:pPr/>
                      <a:r>
                        <a:rPr sz="2100" b="1">
                          <a:solidFill>
                            <a:srgbClr val="003E7E"/>
                          </a:solidFill>
                        </a:rPr>
                        <a:t>Confianza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Estabilidad (%) · Estable (≥80%) · Resultado Alternativo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Cuánto coincidieron las 10 corridas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671096">
                <a:tc>
                  <a:txBody>
                    <a:bodyPr/>
                    <a:lstStyle/>
                    <a:p>
                      <a:pPr/>
                      <a:r>
                        <a:rPr sz="2100" b="1">
                          <a:solidFill>
                            <a:srgbClr val="003E7E"/>
                          </a:solidFill>
                        </a:rPr>
                        <a:t>Sustento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Razonamiento (chequeo por chequeo) · Evidencia citada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Verificar por qué llegó a ese resultado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671096">
                <a:tc>
                  <a:txBody>
                    <a:bodyPr/>
                    <a:lstStyle/>
                    <a:p>
                      <a:pPr/>
                      <a:r>
                        <a:rPr sz="2100" b="1">
                          <a:solidFill>
                            <a:srgbClr val="003E7E"/>
                          </a:solidFill>
                        </a:rPr>
                        <a:t>Prioridad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 b="1">
                          <a:solidFill>
                            <a:srgbClr val="D6001C"/>
                          </a:solidFill>
                        </a:rPr>
                        <a:t>Revisión humana recomendada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100">
                          <a:solidFill>
                            <a:srgbClr val="4A4A4A"/>
                          </a:solidFill>
                        </a:rPr>
                        <a:t>Su cola de trabajo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«Not Found» no es «No».  </a:t>
            </a:r>
            <a:r>
              <a:rPr sz="2000" b="0">
                <a:solidFill>
                  <a:srgbClr val="4A4A4A"/>
                </a:solidFill>
              </a:rPr>
              <a:t>«No» afirma que el criterio no se cumple; «Not Found» afirma que el documento no permite determinarlo. La acción es distinta.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Cómo leer una fila, en orden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9304" y="117043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90472" y="117043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Mire la Respuesta  </a:t>
            </a:r>
            <a:r>
              <a:rPr sz="2600" b="0">
                <a:solidFill>
                  <a:srgbClr val="4A4A4A"/>
                </a:solidFill>
              </a:rPr>
              <a:t>Yes / Partial / No / Not Found / N/A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9214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9304" y="209214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209214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Mire la Estabilidad  </a:t>
            </a:r>
            <a:r>
              <a:rPr sz="2600" b="0">
                <a:solidFill>
                  <a:srgbClr val="4A4A4A"/>
                </a:solidFill>
              </a:rPr>
              <a:t>¿coincidieron las 10 corridas o hubo desacuerdo?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1386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9304" y="301386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301386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Lea la Evidencia citada  </a:t>
            </a:r>
            <a:r>
              <a:rPr sz="2600" b="0">
                <a:solidFill>
                  <a:srgbClr val="4A4A4A"/>
                </a:solidFill>
              </a:rPr>
              <a:t>¿ese pasaje realmente sostiene el resultado?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5577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9304" y="3935577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90472" y="3935577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Lea el Razonamiento  </a:t>
            </a:r>
            <a:r>
              <a:rPr sz="2600" b="0">
                <a:solidFill>
                  <a:srgbClr val="4A4A4A"/>
                </a:solidFill>
              </a:rPr>
              <a:t>qué chequeo falló y con qué justificación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57292"/>
            <a:ext cx="786384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9304" y="4857292"/>
            <a:ext cx="10396728" cy="830275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0472" y="4857292"/>
            <a:ext cx="9948672" cy="8302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2600" b="1">
                <a:solidFill>
                  <a:srgbClr val="003E7E"/>
                </a:solidFill>
              </a:rPr>
              <a:t>Decida  </a:t>
            </a:r>
            <a:r>
              <a:rPr sz="2600" b="0">
                <a:solidFill>
                  <a:srgbClr val="4A4A4A"/>
                </a:solidFill>
              </a:rPr>
              <a:t>¿brecha de diseño, brecha documental, o error del Agente?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D6001C"/>
                </a:solidFill>
              </a:rPr>
              <a:t>Nunca acepte una respuesta sin abrir la evidencia. </a:t>
            </a:r>
            <a:r>
              <a:rPr sz="2000" b="0">
                <a:solidFill>
                  <a:srgbClr val="4A4A4A"/>
                </a:solidFill>
              </a:rPr>
              <a:t>La evidencia es lo que convierte un resultado automático en un diagnóstico defendible.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Qué contiene la columna Razonamiento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7452360" cy="4498848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64008" cy="4498848"/>
          </a:xfrm>
          <a:prstGeom prst="rect">
            <a:avLst/>
          </a:prstGeom>
          <a:solidFill>
            <a:srgbClr val="007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298448"/>
            <a:ext cx="7068312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57"/>
              </a:spcAft>
            </a:pPr>
            <a:r>
              <a:rPr sz="1800" b="1">
                <a:solidFill>
                  <a:srgbClr val="003E7E"/>
                </a:solidFill>
              </a:rPr>
              <a:t>POR QUÉ PARTIAL</a:t>
            </a:r>
            <a:r>
              <a:rPr sz="1800" b="0">
                <a:solidFill>
                  <a:srgbClr val="4A4A4A"/>
                </a:solidFill>
              </a:rPr>
              <a:t> · Se cumplen 2 de 3 chequeos.</a:t>
            </a:r>
          </a:p>
          <a:p>
            <a:pPr>
              <a:spcAft>
                <a:spcPts val="357"/>
              </a:spcAft>
            </a:pPr>
            <a:r>
              <a:rPr sz="1800" b="0">
                <a:solidFill>
                  <a:srgbClr val="4A4A4A"/>
                </a:solidFill>
              </a:rPr>
              <a:t>Falta: articular cómo el proyecto cuestiona normas de poder.</a:t>
            </a:r>
          </a:p>
          <a:p>
            <a:pPr>
              <a:spcAft>
                <a:spcPts val="357"/>
              </a:spcAft>
            </a:pPr>
            <a:r>
              <a:rPr sz="1800" b="0">
                <a:solidFill>
                  <a:srgbClr val="4A4A4A"/>
                </a:solidFill>
              </a:rPr>
              <a:t/>
            </a:r>
          </a:p>
          <a:p>
            <a:pPr>
              <a:spcAft>
                <a:spcPts val="357"/>
              </a:spcAft>
            </a:pPr>
            <a:r>
              <a:rPr sz="1800" b="1">
                <a:solidFill>
                  <a:srgbClr val="003E7E"/>
                </a:solidFill>
              </a:rPr>
              <a:t>VERIFICACIÓN</a:t>
            </a:r>
          </a:p>
          <a:p>
            <a:pPr>
              <a:spcAft>
                <a:spcPts val="357"/>
              </a:spcAft>
            </a:pPr>
            <a:r>
              <a:rPr sz="1800" b="1">
                <a:solidFill>
                  <a:srgbClr val="0072BC"/>
                </a:solidFill>
              </a:rPr>
              <a:t>✓ </a:t>
            </a:r>
            <a:r>
              <a:rPr sz="1800" b="0">
                <a:solidFill>
                  <a:srgbClr val="4A4A4A"/>
                </a:solidFill>
              </a:rPr>
              <a:t>¿Distingue el tipo de enfoque?</a:t>
            </a:r>
          </a:p>
          <a:p>
            <a:pPr>
              <a:spcAft>
                <a:spcPts val="357"/>
              </a:spcAft>
            </a:pPr>
            <a:r>
              <a:rPr sz="1800" b="0" i="1">
                <a:solidFill>
                  <a:srgbClr val="4A4A4A"/>
                </a:solidFill>
              </a:rPr>
              <a:t>      la sección 3.2 distingue los tres enfoques.</a:t>
            </a:r>
          </a:p>
          <a:p>
            <a:pPr>
              <a:spcAft>
                <a:spcPts val="357"/>
              </a:spcAft>
            </a:pPr>
            <a:r>
              <a:rPr sz="1800" b="1">
                <a:solidFill>
                  <a:srgbClr val="D6001C"/>
                </a:solidFill>
              </a:rPr>
              <a:t>✗ </a:t>
            </a:r>
            <a:r>
              <a:rPr sz="1800" b="0">
                <a:solidFill>
                  <a:srgbClr val="4A4A4A"/>
                </a:solidFill>
              </a:rPr>
              <a:t>¿Articula cómo cuestiona normas de poder?</a:t>
            </a:r>
          </a:p>
          <a:p>
            <a:pPr>
              <a:spcAft>
                <a:spcPts val="357"/>
              </a:spcAft>
            </a:pPr>
            <a:r>
              <a:rPr sz="1800" b="0" i="1">
                <a:solidFill>
                  <a:srgbClr val="4A4A4A"/>
                </a:solidFill>
              </a:rPr>
              <a:t>      no se explica el mecanismo en ninguna sección.</a:t>
            </a:r>
          </a:p>
          <a:p>
            <a:pPr>
              <a:spcAft>
                <a:spcPts val="357"/>
              </a:spcAft>
            </a:pPr>
            <a:r>
              <a:rPr sz="1800" b="1">
                <a:solidFill>
                  <a:srgbClr val="0072BC"/>
                </a:solidFill>
              </a:rPr>
              <a:t>✓ </a:t>
            </a:r>
            <a:r>
              <a:rPr sz="1800" b="0">
                <a:solidFill>
                  <a:srgbClr val="4A4A4A"/>
                </a:solidFill>
              </a:rPr>
              <a:t>¿Acciones dedicadas a transformar relaciones?</a:t>
            </a:r>
          </a:p>
          <a:p>
            <a:pPr>
              <a:spcAft>
                <a:spcPts val="357"/>
              </a:spcAft>
            </a:pPr>
            <a:r>
              <a:rPr sz="1800" b="0" i="1">
                <a:solidFill>
                  <a:srgbClr val="4A4A4A"/>
                </a:solidFill>
              </a:rPr>
              <a:t>      actividad 2.4, con presupuesto asignado.</a:t>
            </a:r>
          </a:p>
          <a:p>
            <a:pPr>
              <a:spcAft>
                <a:spcPts val="357"/>
              </a:spcAft>
            </a:pPr>
            <a:r>
              <a:rPr sz="1800" b="0">
                <a:solidFill>
                  <a:srgbClr val="4A4A4A"/>
                </a:solidFill>
              </a:rPr>
              <a:t/>
            </a:r>
          </a:p>
          <a:p>
            <a:pPr>
              <a:spcAft>
                <a:spcPts val="357"/>
              </a:spcAft>
            </a:pPr>
            <a:r>
              <a:rPr sz="1800" b="1">
                <a:solidFill>
                  <a:srgbClr val="003E7E"/>
                </a:solidFill>
              </a:rPr>
              <a:t>ESTABILIDAD</a:t>
            </a:r>
            <a:r>
              <a:rPr sz="1800" b="0">
                <a:solidFill>
                  <a:srgbClr val="4A4A4A"/>
                </a:solidFill>
              </a:rPr>
              <a:t> · 6 de 10 corridas coincidieron. Alternativo: No.</a:t>
            </a:r>
          </a:p>
          <a:p>
            <a:pPr>
              <a:spcAft>
                <a:spcPts val="357"/>
              </a:spcAft>
            </a:pPr>
            <a:r>
              <a:rPr sz="1800" b="1">
                <a:solidFill>
                  <a:srgbClr val="003E7E"/>
                </a:solidFill>
              </a:rPr>
              <a:t>REGLA</a:t>
            </a:r>
            <a:r>
              <a:rPr sz="1800" b="0">
                <a:solidFill>
                  <a:srgbClr val="4A4A4A"/>
                </a:solidFill>
              </a:rPr>
              <a:t> · se requieren los 3 chequeos  (T1 ∧ T2 ∧ T3)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188720"/>
            <a:ext cx="345643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188720"/>
            <a:ext cx="50292" cy="1060704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188720"/>
            <a:ext cx="318211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900" b="1">
                <a:solidFill>
                  <a:srgbClr val="003E7E"/>
                </a:solidFill>
              </a:rPr>
              <a:t>POR QUÉ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</a:rPr>
              <a:t>el motivo, en una línea. Si va con prisa, lea solo esto.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331720"/>
            <a:ext cx="345643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2331720"/>
            <a:ext cx="50292" cy="1060704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331720"/>
            <a:ext cx="318211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900" b="1">
                <a:solidFill>
                  <a:srgbClr val="003E7E"/>
                </a:solidFill>
              </a:rPr>
              <a:t>VERIFICACIÓN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</a:rPr>
              <a:t>cada chequeo enunciado completo, con ✓ / ✗ y su justificación.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474720"/>
            <a:ext cx="345643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474720"/>
            <a:ext cx="50292" cy="1060704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3474720"/>
            <a:ext cx="318211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900" b="1">
                <a:solidFill>
                  <a:srgbClr val="003E7E"/>
                </a:solidFill>
              </a:rPr>
              <a:t>ESTABILIDAD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</a:rPr>
              <a:t>cuántas de las 10 corridas coincidieron.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617720"/>
            <a:ext cx="345643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4617720"/>
            <a:ext cx="50292" cy="1060704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4617720"/>
            <a:ext cx="3182112" cy="10607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1900" b="1">
                <a:solidFill>
                  <a:srgbClr val="003E7E"/>
                </a:solidFill>
              </a:rPr>
              <a:t>REGLA</a:t>
            </a:r>
          </a:p>
          <a:p>
            <a:pPr>
              <a:spcBef>
                <a:spcPts val="200"/>
              </a:spcBef>
            </a:pPr>
            <a:r>
              <a:rPr sz="1600" b="0">
                <a:solidFill>
                  <a:srgbClr val="4A4A4A"/>
                </a:solidFill>
              </a:rPr>
              <a:t>la regla formal del Checklist, para auditoría.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Ya no hay que descifrar «T1 ∧ T2 ∧ T3»:  </a:t>
            </a:r>
            <a:r>
              <a:rPr sz="2000" b="0">
                <a:solidFill>
                  <a:srgbClr val="4A4A4A"/>
                </a:solidFill>
              </a:rPr>
              <a:t>cada chequeo se lee solo. La regla formal sigue abajo, para quien necesite trazar el resultado.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3900" b="1">
                <a:solidFill>
                  <a:srgbClr val="FFFFFF"/>
                </a:solidFill>
              </a:rPr>
              <a:t>Paso 5 · Localizar la evidencia en el PRODOC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30"/>
              </a:spcAft>
            </a:pPr>
            <a:r>
              <a:rPr sz="2300">
                <a:solidFill>
                  <a:srgbClr val="0072BC"/>
                </a:solidFill>
              </a:rPr>
              <a:t>▪  </a:t>
            </a:r>
            <a:r>
              <a:rPr sz="2300" b="1">
                <a:solidFill>
                  <a:srgbClr val="003E7E"/>
                </a:solidFill>
              </a:rPr>
              <a:t>La columna Evidencia trae la cita textual</a:t>
            </a:r>
            <a:r>
              <a:rPr sz="2300" b="0">
                <a:solidFill>
                  <a:srgbClr val="4A4A4A"/>
                </a:solidFill>
              </a:rPr>
              <a:t> que el Agente usó. Búsquela en el PRODOC con Ctrl+F para verla en su contexto.</a:t>
            </a:r>
          </a:p>
          <a:p>
            <a:pPr>
              <a:spcAft>
                <a:spcPts val="1430"/>
              </a:spcAft>
            </a:pPr>
            <a:r>
              <a:rPr sz="2300">
                <a:solidFill>
                  <a:srgbClr val="0072BC"/>
                </a:solidFill>
              </a:rPr>
              <a:t>▪  </a:t>
            </a:r>
            <a:r>
              <a:rPr sz="2300" b="1">
                <a:solidFill>
                  <a:srgbClr val="003E7E"/>
                </a:solidFill>
              </a:rPr>
              <a:t>Cuando la evidencia es una ausencia,</a:t>
            </a:r>
            <a:r>
              <a:rPr sz="2300" b="0">
                <a:solidFill>
                  <a:srgbClr val="4A4A4A"/>
                </a:solidFill>
              </a:rPr>
              <a:t> el Agente lo dice explícitamente: «No se encontró sección X». Eso también es un hallazgo verificable.</a:t>
            </a:r>
          </a:p>
          <a:p>
            <a:pPr>
              <a:spcAft>
                <a:spcPts val="1430"/>
              </a:spcAft>
            </a:pPr>
            <a:r>
              <a:rPr sz="2300">
                <a:solidFill>
                  <a:srgbClr val="0072BC"/>
                </a:solidFill>
              </a:rPr>
              <a:t>▪  </a:t>
            </a:r>
            <a:r>
              <a:rPr sz="2300" b="1">
                <a:solidFill>
                  <a:srgbClr val="003E7E"/>
                </a:solidFill>
              </a:rPr>
              <a:t>Tres desenlaces posibles al verificar:</a:t>
            </a:r>
          </a:p>
          <a:p>
            <a:pPr lvl="1">
              <a:spcAft>
                <a:spcPts val="1430"/>
              </a:spcAft>
            </a:pPr>
            <a:r>
              <a:rPr sz="2300" b="1">
                <a:solidFill>
                  <a:srgbClr val="D6001C"/>
                </a:solidFill>
              </a:rPr>
              <a:t>La información sí está y el Agente no la reconoció </a:t>
            </a:r>
            <a:r>
              <a:rPr sz="2300" b="0">
                <a:solidFill>
                  <a:srgbClr val="4A4A4A"/>
                </a:solidFill>
              </a:rPr>
              <a:t>→ se descarta el diagnóstico automático</a:t>
            </a:r>
          </a:p>
          <a:p>
            <a:pPr lvl="1">
              <a:spcAft>
                <a:spcPts val="1430"/>
              </a:spcAft>
            </a:pPr>
            <a:r>
              <a:rPr sz="2300" b="1">
                <a:solidFill>
                  <a:srgbClr val="D6001C"/>
                </a:solidFill>
              </a:rPr>
              <a:t>La información no está pero el formulador la conoce </a:t>
            </a:r>
            <a:r>
              <a:rPr sz="2300" b="0">
                <a:solidFill>
                  <a:srgbClr val="4A4A4A"/>
                </a:solidFill>
              </a:rPr>
              <a:t>→ mejorar el PRODOC</a:t>
            </a:r>
          </a:p>
          <a:p>
            <a:pPr lvl="1">
              <a:spcAft>
                <a:spcPts val="1430"/>
              </a:spcAft>
            </a:pPr>
            <a:r>
              <a:rPr sz="2300" b="1">
                <a:solidFill>
                  <a:srgbClr val="D6001C"/>
                </a:solidFill>
              </a:rPr>
              <a:t>La información no existe aún </a:t>
            </a:r>
            <a:r>
              <a:rPr sz="2300" b="0">
                <a:solidFill>
                  <a:srgbClr val="4A4A4A"/>
                </a:solidFill>
              </a:rPr>
              <a:t>→ resolver antes de cerrar la formulación, o trasladar a inception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600" b="1">
                <a:solidFill>
                  <a:srgbClr val="003E7E"/>
                </a:solidFill>
              </a:rPr>
              <a:t>La fórmula:  </a:t>
            </a:r>
            <a:r>
              <a:rPr sz="2600" b="0">
                <a:solidFill>
                  <a:srgbClr val="4A4A4A"/>
                </a:solidFill>
              </a:rPr>
              <a:t>¿existe?  →  ¿es suficiente?  →  ¿está documentado?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Vinculación con otros recursos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11183111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2796"/>
                <a:gridCol w="3960685"/>
                <a:gridCol w="4659630"/>
              </a:tblGrid>
              <a:tr h="813084"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Recurso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Qué aporta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200">
                          <a:solidFill>
                            <a:srgbClr val="FFFFFF"/>
                          </a:solidFill>
                        </a:rPr>
                        <a:t>Ejemplo de uso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1234684">
                <a:tc>
                  <a:txBody>
                    <a:bodyPr/>
                    <a:lstStyle/>
                    <a:p>
                      <a:pPr/>
                      <a:r>
                        <a:rPr sz="2200" b="1">
                          <a:solidFill>
                            <a:srgbClr val="003E7E"/>
                          </a:solidFill>
                        </a:rPr>
                        <a:t>Chatea con el Agente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Preguntar sobre el resultado ya generado, en lenguaje natural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«Resume las brechas de la sección 3 en tres puntos»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1234684">
                <a:tc>
                  <a:txBody>
                    <a:bodyPr/>
                    <a:lstStyle/>
                    <a:p>
                      <a:pPr/>
                      <a:r>
                        <a:rPr sz="2200" b="1">
                          <a:solidFill>
                            <a:srgbClr val="003E7E"/>
                          </a:solidFill>
                        </a:rPr>
                        <a:t>Otros GPTs desarrollados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Atributos Específicos (género, participación, transición justa) y Sostenibilidad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Profundizar un tema que el Checklist solo toca de forma transversal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1234684">
                <a:tc>
                  <a:txBody>
                    <a:bodyPr/>
                    <a:lstStyle/>
                    <a:p>
                      <a:pPr/>
                      <a:r>
                        <a:rPr sz="2200" b="1">
                          <a:solidFill>
                            <a:srgbClr val="003E7E"/>
                          </a:solidFill>
                        </a:rPr>
                        <a:t>Chatbot i-EVal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Evidencia de evaluaciones anteriores en la región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200">
                          <a:solidFill>
                            <a:srgbClr val="4A4A4A"/>
                          </a:solidFill>
                        </a:rPr>
                        <a:t>«¿Qué problemas recurrentes han identificado las evaluaciones en proyectos con ministerios de trabajo?»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000" b="1">
                <a:solidFill>
                  <a:srgbClr val="003E7E"/>
                </a:solidFill>
              </a:rPr>
              <a:t>El Excel no es el final del proceso:  </a:t>
            </a:r>
            <a:r>
              <a:rPr sz="2000" b="0">
                <a:solidFill>
                  <a:srgbClr val="4A4A4A"/>
                </a:solidFill>
              </a:rPr>
              <a:t>es el punto de partida de la conversación con el equipo formulador.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Preguntas frecuentes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11183111" cy="5276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4955"/>
                <a:gridCol w="7138156"/>
              </a:tblGrid>
              <a:tr h="542683">
                <a:tc>
                  <a:txBody>
                    <a:bodyPr/>
                    <a:lstStyle/>
                    <a:p>
                      <a:pPr/>
                      <a:r>
                        <a:rPr b="1" sz="2400">
                          <a:solidFill>
                            <a:srgbClr val="FFFFFF"/>
                          </a:solidFill>
                        </a:rPr>
                        <a:t>Pregunta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b="1" sz="2400">
                          <a:solidFill>
                            <a:srgbClr val="FFFFFF"/>
                          </a:solidFill>
                        </a:rPr>
                        <a:t>Respuesta breve</a:t>
                      </a:r>
                    </a:p>
                  </a:txBody>
                  <a:tcPr marT="38100" marB="38100">
                    <a:solidFill>
                      <a:srgbClr val="003E7E"/>
                    </a:solidFill>
                  </a:tcPr>
                </a:tc>
              </a:tr>
              <a:tr h="788900"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¿Por qué puede cambiar una respuesta?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El modelo no es determinista. Por eso repetimos 10 veces y reportamos estabilidad.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88900"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¿Qué significa una estabilidad de 50–70%?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Las corridas no coincidieron: criterio ambiguo o evidencia insuficiente. Revisión humana.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88900"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¿Por qué no encontró algo que yo sé que existe?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Solo lee el documento. Si está y no lo vio, verifíquelo y descarte el diagnóstico.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88900"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¿Por qué no me da recomendaciones de mejora?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No incorpora conocimiento externo al documento. Las recomendaciones salen de su lectura.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788900"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¿Cuánto cuesta evaluar un PRODOC?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Depende del tamaño del documento y de cuántos criterios se evalúen. Filtrar reduce el costo.</a:t>
                      </a:r>
                    </a:p>
                  </a:txBody>
                  <a:tcPr marT="25400" marB="25400">
                    <a:solidFill>
                      <a:srgbClr val="F0F4F8"/>
                    </a:solidFill>
                  </a:tcPr>
                </a:tc>
              </a:tr>
              <a:tr h="788900"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¿Puedo evaluar otros documentos?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2400">
                          <a:solidFill>
                            <a:srgbClr val="4A4A4A"/>
                          </a:solidFill>
                        </a:rPr>
                        <a:t>Para género, participación, transición justa y sostenibilidad existen agentes específicos.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0"/>
            <a:ext cx="11338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sz="4600" b="1">
                <a:solidFill>
                  <a:srgbClr val="FFFFFF"/>
                </a:solidFill>
              </a:rPr>
              <a:t>Qué recordar de este bloque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18311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320"/>
              </a:spcAft>
            </a:pPr>
            <a:r>
              <a:rPr sz="2600">
                <a:solidFill>
                  <a:srgbClr val="D6001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El Agente lee el documento, no el proyecto.</a:t>
            </a:r>
            <a:r>
              <a:rPr sz="2600" b="0">
                <a:solidFill>
                  <a:srgbClr val="4A4A4A"/>
                </a:solidFill>
              </a:rPr>
              <a:t>  Un «No» puede ser una brecha de diseño o simplemente algo no documentado. Distinguirlo es trabajo suyo.</a:t>
            </a:r>
          </a:p>
          <a:p>
            <a:pPr>
              <a:spcAft>
                <a:spcPts val="2320"/>
              </a:spcAft>
            </a:pPr>
            <a:r>
              <a:rPr sz="2600">
                <a:solidFill>
                  <a:srgbClr val="D6001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Repite 10 veces y le dice cuánto coincidió.</a:t>
            </a:r>
            <a:r>
              <a:rPr sz="2600" b="0">
                <a:solidFill>
                  <a:srgbClr val="4A4A4A"/>
                </a:solidFill>
              </a:rPr>
              <a:t>  La estabilidad es una medida de confianza interna, no de acierto.</a:t>
            </a:r>
          </a:p>
          <a:p>
            <a:pPr>
              <a:spcAft>
                <a:spcPts val="2320"/>
              </a:spcAft>
            </a:pPr>
            <a:r>
              <a:rPr sz="2600">
                <a:solidFill>
                  <a:srgbClr val="D6001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Todo resultado viene con su evidencia.</a:t>
            </a:r>
            <a:r>
              <a:rPr sz="2600" b="0">
                <a:solidFill>
                  <a:srgbClr val="4A4A4A"/>
                </a:solidFill>
              </a:rPr>
              <a:t>  Verifíquela siempre: es lo que hace el diagnóstico defendible ante el equipo formulador.</a:t>
            </a:r>
          </a:p>
          <a:p>
            <a:pPr>
              <a:spcAft>
                <a:spcPts val="2320"/>
              </a:spcAft>
            </a:pPr>
            <a:r>
              <a:rPr sz="2600">
                <a:solidFill>
                  <a:srgbClr val="D6001C"/>
                </a:solidFill>
              </a:rPr>
              <a:t>▪  </a:t>
            </a:r>
            <a:r>
              <a:rPr sz="2600" b="1">
                <a:solidFill>
                  <a:srgbClr val="003E7E"/>
                </a:solidFill>
              </a:rPr>
              <a:t>La columna «Revisión humana recomendada» es su cola de trabajo.</a:t>
            </a:r>
            <a:r>
              <a:rPr sz="2600" b="0">
                <a:solidFill>
                  <a:srgbClr val="4A4A4A"/>
                </a:solidFill>
              </a:rPr>
              <a:t>  Empiece por ahí.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06440"/>
            <a:ext cx="11183112" cy="658368"/>
          </a:xfrm>
          <a:prstGeom prst="rect">
            <a:avLst/>
          </a:prstGeom>
          <a:solidFill>
            <a:srgbClr val="E0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ctr"/>
            <a:r>
              <a:rPr sz="2100" b="1">
                <a:solidFill>
                  <a:srgbClr val="003E7E"/>
                </a:solidFill>
              </a:rPr>
              <a:t>El valor de la herramienta depende de la calidad de la revisión humana posterior.</a:t>
            </a:r>
            <a:r>
              <a:rPr sz="2100" b="0">
                <a:solidFill>
                  <a:srgbClr val="4A4A4A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788920"/>
            <a:ext cx="3108960" cy="82296"/>
          </a:xfrm>
          <a:prstGeom prst="rect">
            <a:avLst/>
          </a:prstGeom>
          <a:solidFill>
            <a:srgbClr val="D60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6400" b="1">
                <a:solidFill>
                  <a:srgbClr val="FFFFFF"/>
                </a:solidFill>
              </a:rPr>
              <a:t>Preguntas</a:t>
            </a:r>
          </a:p>
          <a:p>
            <a:pPr>
              <a:spcBef>
                <a:spcPts val="1400"/>
              </a:spcBef>
            </a:pPr>
            <a:r>
              <a:rPr sz="2600" b="0">
                <a:solidFill>
                  <a:srgbClr val="FFFFFF"/>
                </a:solidFill>
              </a:rPr>
              <a:t>Agente GPT · Appraisal Checklist de PRODOCs   ·   Ahmed Eid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