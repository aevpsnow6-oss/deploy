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087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5500" b="1">
                <a:solidFill>
                  <a:srgbClr val="003E7E"/>
                </a:solidFill>
              </a:rPr>
              <a:t>How the technology works
and what its limits are</a:t>
            </a:r>
          </a:p>
          <a:p>
            <a:pPr>
              <a:spcBef>
                <a:spcPts val="1800"/>
              </a:spcBef>
            </a:pPr>
            <a:r>
              <a:rPr sz="3000" b="0">
                <a:solidFill>
                  <a:srgbClr val="4A4A4A"/>
                </a:solidFill>
              </a:rPr>
              <a:t>GPT Agent · PRODOC Appraisal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206240"/>
            <a:ext cx="2834640" cy="64008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5262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27"/>
              </a:spcAft>
            </a:pPr>
            <a:r>
              <a:rPr sz="2400" b="1">
                <a:solidFill>
                  <a:srgbClr val="003E7E"/>
                </a:solidFill>
              </a:rPr>
              <a:t>Presenter:  </a:t>
            </a:r>
            <a:r>
              <a:rPr sz="2400" b="0">
                <a:solidFill>
                  <a:srgbClr val="4A4A4A"/>
                </a:solidFill>
              </a:rPr>
              <a:t>Ahmed Eid</a:t>
            </a:r>
          </a:p>
          <a:p>
            <a:pPr>
              <a:spcAft>
                <a:spcPts val="927"/>
              </a:spcAft>
            </a:pPr>
            <a:r>
              <a:rPr sz="2400" b="1">
                <a:solidFill>
                  <a:srgbClr val="003E7E"/>
                </a:solidFill>
              </a:rPr>
              <a:t>Session:  </a:t>
            </a:r>
            <a:r>
              <a:rPr sz="2400" b="0">
                <a:solidFill>
                  <a:srgbClr val="4A4A4A"/>
                </a:solidFill>
              </a:rPr>
              <a:t>Day 1 · Thursday 27 August 2026 · 9:30–10:30 (Lima)</a:t>
            </a:r>
          </a:p>
          <a:p>
            <a:pPr>
              <a:spcAft>
                <a:spcPts val="927"/>
              </a:spcAft>
            </a:pPr>
            <a:r>
              <a:rPr sz="2400" b="1">
                <a:solidFill>
                  <a:srgbClr val="003E7E"/>
                </a:solidFill>
              </a:rPr>
              <a:t>Block:  </a:t>
            </a:r>
            <a:r>
              <a:rPr sz="2400" b="0">
                <a:solidFill>
                  <a:srgbClr val="4A4A4A"/>
                </a:solidFill>
              </a:rPr>
              <a:t>Item 4 · 30 minutes, with questions folded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Where it comes from  </a:t>
            </a:r>
            <a:r>
              <a:rPr sz="2600" b="0">
                <a:solidFill>
                  <a:srgbClr val="4A4A4A"/>
                </a:solidFill>
              </a:rPr>
              <a:t>from the Streamlit app to the GPT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How it is built  </a:t>
            </a:r>
            <a:r>
              <a:rPr sz="2600" b="0">
                <a:solidFill>
                  <a:srgbClr val="4A4A4A"/>
                </a:solidFill>
              </a:rPr>
              <a:t>the rubric, the tests, the search for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Why it repeats  </a:t>
            </a:r>
            <a:r>
              <a:rPr sz="2600" b="0">
                <a:solidFill>
                  <a:srgbClr val="4A4A4A"/>
                </a:solidFill>
              </a:rPr>
              <a:t>randomness, 10 runs and stability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What it does NOT do  </a:t>
            </a:r>
            <a:r>
              <a:rPr sz="2600" b="0">
                <a:solidFill>
                  <a:srgbClr val="4A4A4A"/>
                </a:solidFill>
              </a:rPr>
              <a:t>real limits, and how it compares to the Enterprise GPT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Demonstration  </a:t>
            </a:r>
            <a:r>
              <a:rPr sz="2600" b="0">
                <a:solidFill>
                  <a:srgbClr val="4A4A4A"/>
                </a:solidFill>
              </a:rPr>
              <a:t>upload → run → read the Excel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600" b="1">
                <a:solidFill>
                  <a:srgbClr val="D6001C"/>
                </a:solidFill>
              </a:rPr>
              <a:t>Questions are folded into this block: </a:t>
            </a:r>
            <a:r>
              <a:rPr sz="2600" b="0">
                <a:solidFill>
                  <a:srgbClr val="4A4A4A"/>
                </a:solidFill>
              </a:rPr>
              <a:t>interrupt me at any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700" b="1">
                <a:solidFill>
                  <a:srgbClr val="FFFFFF"/>
                </a:solidFill>
              </a:rPr>
              <a:t>Where it comes from: Streamlit to the GPT Agent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375"/>
                <a:gridCol w="4529868"/>
                <a:gridCol w="4529868"/>
              </a:tblGrid>
              <a:tr h="464619"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>Streamlit application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>GPT Agent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Access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URL + environment password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A ChatGPT link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Install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Own server, dependencies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None: it opens in the browser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Learning curve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Tabs and parameters to learn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Plain conversation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Rubric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Loaded on the server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Loaded on the server (same)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Engine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The same evaluation code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The same evaluation code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Output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Downloadable Excel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Downloadable Excel (same)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The engine did not change. </a:t>
            </a:r>
            <a:r>
              <a:rPr sz="2000" b="0">
                <a:solidFill>
                  <a:srgbClr val="4A4A4A"/>
                </a:solidFill>
              </a:rPr>
              <a:t>What changed is the front door: the Agent removes the install and interface barrier.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a GPT is, in plain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8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A language model predicts text.</a:t>
            </a:r>
            <a:r>
              <a:rPr sz="2300" b="0">
                <a:solidFill>
                  <a:srgbClr val="4A4A4A"/>
                </a:solidFill>
              </a:rPr>
              <a:t>  It has read enormous amounts of text and learned which words tend to follow others in a given context.</a:t>
            </a:r>
          </a:p>
          <a:p>
            <a:pPr>
              <a:spcAft>
                <a:spcPts val="208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It is not a database.</a:t>
            </a:r>
            <a:r>
              <a:rPr sz="2300" b="0">
                <a:solidFill>
                  <a:srgbClr val="4A4A4A"/>
                </a:solidFill>
              </a:rPr>
              <a:t>  It does not «look up» the PRODOC the way you search a filing system: it reads the whole thing and reasons over it there and then.</a:t>
            </a:r>
          </a:p>
          <a:p>
            <a:pPr>
              <a:spcAft>
                <a:spcPts val="208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It is not a search engine.</a:t>
            </a:r>
            <a:r>
              <a:rPr sz="2300" b="0">
                <a:solidFill>
                  <a:srgbClr val="4A4A4A"/>
                </a:solidFill>
              </a:rPr>
              <a:t>  There is no list of correct answers stored somewhere that the system retrieves.</a:t>
            </a:r>
          </a:p>
          <a:p>
            <a:pPr>
              <a:spcAft>
                <a:spcPts val="208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It is a reader that follows instructions.</a:t>
            </a:r>
            <a:r>
              <a:rPr sz="2300" b="0">
                <a:solidFill>
                  <a:srgbClr val="4A4A4A"/>
                </a:solidFill>
              </a:rPr>
              <a:t>  We give it the document, the rubric and a very precise instruction, and it returns a judgement with the quotation that supports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Practical consequence:  </a:t>
            </a:r>
            <a:r>
              <a:rPr sz="2000" b="0">
                <a:solidFill>
                  <a:srgbClr val="4A4A4A"/>
                </a:solidFill>
              </a:rPr>
              <a:t>the Agent can only see what is written in the PRODOC. What the specialist knows but did not document does not exist for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the Agent does not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174"/>
                <a:gridCol w="3860836"/>
                <a:gridCol w="4127100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It does not do this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What it means for you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Approve or reject a PRODOC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issues no official ILO determination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The decision stays with the appraiser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Guess what is undocumented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only reads the text it is given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 «No» may be a documentation gap, not a design gap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Remember previous appraisals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Every run starts from zero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does not compare across projects automatically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Rewrite the PRODOC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That is neither its purpose nor its scope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shows you where to look, not what to write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Always give the same answer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There is inherent randomness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Which is why we repeat and measure stability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A deliberate design choice:  </a:t>
            </a:r>
            <a:r>
              <a:rPr sz="2000" b="0">
                <a:solidFill>
                  <a:srgbClr val="4A4A4A"/>
                </a:solidFill>
              </a:rPr>
              <a:t>we prefer a narrow, auditable diagnosis over a broad recommendation with no grounding in the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</a:rPr>
              <a:t>How the Appraisal Checklist was built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The rubric was digitised  </a:t>
            </a:r>
            <a:r>
              <a:rPr sz="2600" b="0">
                <a:solidFill>
                  <a:srgbClr val="4A4A4A"/>
                </a:solidFill>
              </a:rPr>
              <a:t>each criterion became a structured row, not free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It was broken into tests  </a:t>
            </a:r>
            <a:r>
              <a:rPr sz="2600" b="0">
                <a:solidFill>
                  <a:srgbClr val="4A4A4A"/>
                </a:solidFill>
              </a:rPr>
              <a:t>each criterion is expressed as boolean questions T1, T2, T3…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A decision rule was written  </a:t>
            </a:r>
            <a:r>
              <a:rPr sz="2600" b="0">
                <a:solidFill>
                  <a:srgbClr val="4A4A4A"/>
                </a:solidFill>
              </a:rPr>
              <a:t>an explicit formula determines Yes / Partial /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Verifiable anchors were set  </a:t>
            </a:r>
            <a:r>
              <a:rPr sz="2600" b="0">
                <a:solidFill>
                  <a:srgbClr val="4A4A4A"/>
                </a:solidFill>
              </a:rPr>
              <a:t>terms and phrases the Agent must look for in the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Subjectivity was labelled  </a:t>
            </a:r>
            <a:r>
              <a:rPr sz="2600" b="0">
                <a:solidFill>
                  <a:srgbClr val="4A4A4A"/>
                </a:solidFill>
              </a:rPr>
              <a:t>every criterion is tagged High / Medium /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The rubric lives on the server. </a:t>
            </a:r>
            <a:r>
              <a:rPr sz="2000" b="0">
                <a:solidFill>
                  <a:srgbClr val="4A4A4A"/>
                </a:solidFill>
              </a:rPr>
              <a:t>Users never upload it: every appraisal runs against the same institutional 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700" b="1">
                <a:solidFill>
                  <a:srgbClr val="FFFFFF"/>
                </a:solidFill>
              </a:rPr>
              <a:t>What it assesses: 76 criteria across 5 sections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09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73"/>
                <a:gridCol w="5455176"/>
                <a:gridCol w="1636552"/>
                <a:gridCol w="2591208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Criteria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Subsections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1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Relevance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20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1.1 – 1.5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Design validity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13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2.1 – 2.4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3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Results framework and M&amp;E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27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3.1 – 3.7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Implementation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4.1 – 4.4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5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Presentation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5.1 – 5.2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You can filter:  </a:t>
            </a:r>
            <a:r>
              <a:rPr sz="2000" b="0">
                <a:solidFill>
                  <a:srgbClr val="4A4A4A"/>
                </a:solidFill>
              </a:rPr>
              <a:t>the full rubric, one section («only section 3») or specific subsections («only 1.1 and 2.3»). Filtering cuts both time and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400" b="1">
                <a:solidFill>
                  <a:srgbClr val="FFFFFF"/>
                </a:solidFill>
              </a:rPr>
              <a:t>From criterion to tests: how it «reads» a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44"/>
              </a:spcAft>
            </a:pPr>
            <a:r>
              <a:rPr sz="1400" b="1">
                <a:solidFill>
                  <a:srgbClr val="003E7E"/>
                </a:solidFill>
              </a:rPr>
              <a:t>A criterion is not assessed as a general impression.</a:t>
            </a:r>
          </a:p>
          <a:p>
            <a:pPr>
              <a:spcAft>
                <a:spcPts val="544"/>
              </a:spcAft>
            </a:pPr>
            <a:r>
              <a:rPr sz="1400" b="0">
                <a:solidFill>
                  <a:srgbClr val="4A4A4A"/>
                </a:solidFill>
              </a:rPr>
              <a:t>It is broken into closed questions, answered one by one, each with quoted evidence: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83110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473"/>
                <a:gridCol w="8559912"/>
                <a:gridCol w="1587725"/>
              </a:tblGrid>
              <a:tr h="427939"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Closed question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Answer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T1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Does it distinguish the type of approach (sensitive / responsive / transformative)?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yes / no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Does it articulate how the project challenges norms or power relations?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yes / no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T3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Are there dedicated actions to transform relations, not just to include women?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yes / no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72000"/>
            <a:ext cx="111831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3100" b="1">
                <a:solidFill>
                  <a:srgbClr val="003E7E"/>
                </a:solidFill>
              </a:rPr>
              <a:t>DECISION:   </a:t>
            </a:r>
            <a:r>
              <a:rPr sz="3100" b="0">
                <a:solidFill>
                  <a:srgbClr val="4A4A4A"/>
                </a:solidFill>
              </a:rPr>
              <a:t>T1 ∧ T2 ∧ T3 → </a:t>
            </a:r>
            <a:r>
              <a:rPr sz="3100" b="1">
                <a:solidFill>
                  <a:srgbClr val="D6001C"/>
                </a:solidFill>
              </a:rPr>
              <a:t>Yes</a:t>
            </a:r>
            <a:r>
              <a:rPr sz="3100" b="0">
                <a:solidFill>
                  <a:srgbClr val="4A4A4A"/>
                </a:solidFill>
              </a:rPr>
              <a:t>      ·      T1 ∨ T3 (without all three) → </a:t>
            </a:r>
            <a:r>
              <a:rPr sz="3100" b="1">
                <a:solidFill>
                  <a:srgbClr val="D6001C"/>
                </a:solidFill>
              </a:rPr>
              <a:t>Partial</a:t>
            </a:r>
            <a:r>
              <a:rPr sz="3100" b="0">
                <a:solidFill>
                  <a:srgbClr val="4A4A4A"/>
                </a:solidFill>
              </a:rPr>
              <a:t>      ·      ¬T1 ∧ ¬T3 → </a:t>
            </a:r>
            <a:r>
              <a:rPr sz="3100" b="1">
                <a:solidFill>
                  <a:srgbClr val="D6001C"/>
                </a:solidFill>
              </a:rPr>
              <a:t>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This is what makes the result auditable:  </a:t>
            </a:r>
            <a:r>
              <a:rPr sz="2000" b="0">
                <a:solidFill>
                  <a:srgbClr val="4A4A4A"/>
                </a:solidFill>
              </a:rPr>
              <a:t>you can check, test by test, where and why the Agent reached that conclusion.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700" b="1">
                <a:solidFill>
                  <a:srgbClr val="FFFFFF"/>
                </a:solidFill>
              </a:rPr>
              <a:t>How it looks for evidence: DEDICATED vs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34"/>
              </a:spcAft>
            </a:pPr>
            <a:r>
              <a:rPr sz="1900" b="1">
                <a:solidFill>
                  <a:srgbClr val="003E7E"/>
                </a:solidFill>
              </a:rPr>
              <a:t>A word appearing in the document is not enough.</a:t>
            </a:r>
            <a:r>
              <a:rPr sz="1900" b="0">
                <a:solidFill>
                  <a:srgbClr val="4A4A4A"/>
                </a:solidFill>
              </a:rPr>
              <a:t>  The Agent classifies each mention before counting it as evidence.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83110" cy="372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32"/>
                <a:gridCol w="4500520"/>
                <a:gridCol w="4909658"/>
              </a:tblGrid>
              <a:tr h="893185"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>FRAMING  (does not count)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500">
                          <a:solidFill>
                            <a:srgbClr val="FFFFFF"/>
                          </a:solidFill>
                        </a:rPr>
                        <a:t>DEDICATED  (does count)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1414211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What it is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The topic is mentioned, with no development of its own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The topic has its own space in the design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1414211">
                <a:tc>
                  <a:txBody>
                    <a:bodyPr/>
                    <a:lstStyle/>
                    <a:p>
                      <a:pPr/>
                      <a:r>
                        <a:rPr sz="2500" b="1">
                          <a:solidFill>
                            <a:srgbClr val="003E7E"/>
                          </a:solidFill>
                        </a:rPr>
                        <a:t>Examples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Lists of ≥3 groups · generic inclusion language · «among others» enumerations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500">
                          <a:solidFill>
                            <a:srgbClr val="4A4A4A"/>
                          </a:solidFill>
                        </a:rPr>
                        <a:t>An output or result naming it · a disaggregated indicator · a dedicated activity · a budget line · a quantified target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Hard rule:  </a:t>
            </a:r>
            <a:r>
              <a:rPr sz="2000" b="0">
                <a:solidFill>
                  <a:srgbClr val="4A4A4A"/>
                </a:solidFill>
              </a:rPr>
              <a:t>if all citable evidence is framing, the result must be «No» or «Not Found», however many times the topic is named.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</a:rPr>
              <a:t>A full case: from PRODOC text to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5349240" cy="3840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152144"/>
            <a:ext cx="5166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100" b="1">
                <a:solidFill>
                  <a:srgbClr val="FFFFFF"/>
                </a:solidFill>
              </a:rPr>
              <a:t>WHAT THE PRODOC SAYS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349240" cy="3931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45920"/>
            <a:ext cx="5020056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38"/>
              </a:spcAft>
            </a:pPr>
            <a:r>
              <a:rPr sz="1600" b="1">
                <a:solidFill>
                  <a:srgbClr val="003E7E"/>
                </a:solidFill>
              </a:rPr>
              <a:t>§ 2.3 Gender approach</a:t>
            </a:r>
          </a:p>
          <a:p>
            <a:pPr>
              <a:spcAft>
                <a:spcPts val="338"/>
              </a:spcAft>
            </a:pPr>
            <a:r>
              <a:rPr sz="1600" b="0" i="1">
                <a:solidFill>
                  <a:srgbClr val="4A4A4A"/>
                </a:solidFill>
              </a:rPr>
              <a:t>«The project adopts a gender-transformative approach, distinguishing it from merely sensitive or responsive approaches.»</a:t>
            </a:r>
          </a:p>
          <a:p>
            <a:pPr>
              <a:spcAft>
                <a:spcPts val="338"/>
              </a:spcAft>
            </a:pPr>
            <a:r>
              <a:rPr sz="16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38"/>
              </a:spcAft>
            </a:pPr>
            <a:r>
              <a:rPr sz="1600" b="1">
                <a:solidFill>
                  <a:srgbClr val="003E7E"/>
                </a:solidFill>
              </a:rPr>
              <a:t>§ 3.1 Beneficiaries</a:t>
            </a:r>
          </a:p>
          <a:p>
            <a:pPr>
              <a:spcAft>
                <a:spcPts val="338"/>
              </a:spcAft>
            </a:pPr>
            <a:r>
              <a:rPr sz="1600" b="0" i="1">
                <a:solidFill>
                  <a:srgbClr val="4A4A4A"/>
                </a:solidFill>
              </a:rPr>
              <a:t>«Priority will be given to the participation of women, young people, persons with disabilities and indigenous peoples.»</a:t>
            </a:r>
          </a:p>
          <a:p>
            <a:pPr>
              <a:spcAft>
                <a:spcPts val="338"/>
              </a:spcAft>
            </a:pPr>
            <a:r>
              <a:rPr sz="16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38"/>
              </a:spcAft>
            </a:pPr>
            <a:r>
              <a:rPr sz="1600" b="1">
                <a:solidFill>
                  <a:srgbClr val="003E7E"/>
                </a:solidFill>
              </a:rPr>
              <a:t>§ 4.2 Activity 2.4</a:t>
            </a:r>
          </a:p>
          <a:p>
            <a:pPr>
              <a:spcAft>
                <a:spcPts val="338"/>
              </a:spcAft>
            </a:pPr>
            <a:r>
              <a:rPr sz="1600" b="0" i="1">
                <a:solidFill>
                  <a:srgbClr val="4A4A4A"/>
                </a:solidFill>
              </a:rPr>
              <a:t>«Working sessions with cooperatives to review the credit-access criteria that exclude women titleholders. Budget: USD 18,000.»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152144"/>
            <a:ext cx="5486400" cy="3840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52144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200" b="1">
                <a:solidFill>
                  <a:srgbClr val="FFFFFF"/>
                </a:solidFill>
              </a:rPr>
              <a:t>HOW THE AGENT ASSESSES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27632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27632"/>
            <a:ext cx="45720" cy="93268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27632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72BC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27632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600" b="1">
                <a:solidFill>
                  <a:srgbClr val="003E7E"/>
                </a:solidFill>
              </a:rPr>
              <a:t>T1 · Distinguishes the type of approach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§ 2.3 names and distinguishes the three approaches.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660904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660904"/>
            <a:ext cx="45720" cy="932688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60904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001C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60904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600" b="1">
                <a:solidFill>
                  <a:srgbClr val="003E7E"/>
                </a:solidFill>
              </a:rPr>
              <a:t>T2 · Articulates how it challenges power norms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it declares the approach but never explains the mechanism.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694176"/>
            <a:ext cx="45720" cy="93268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94176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72BC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94176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600" b="1">
                <a:solidFill>
                  <a:srgbClr val="003E7E"/>
                </a:solidFill>
              </a:rPr>
              <a:t>T3 · Dedicated actions to transform relations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§ 4.2 revises credit-access rules, with its own budget.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727448"/>
            <a:ext cx="548640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4727448"/>
            <a:ext cx="45720" cy="9326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27448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A4A4A"/>
                </a:solidFill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727448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600" b="1">
                <a:solidFill>
                  <a:srgbClr val="003E7E"/>
                </a:solidFill>
              </a:rPr>
              <a:t>§ 3.1 does not count as evidence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a list of four groups with no follow-through: FRAMING, not DEDICATED.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DECISION:  </a:t>
            </a:r>
            <a:r>
              <a:rPr sz="2000" b="0">
                <a:solidFill>
                  <a:srgbClr val="4A4A4A"/>
                </a:solidFill>
              </a:rPr>
              <a:t>T1 ∧ T2 ∧ T3 required. T1 and T3 met, T2 missing  →  </a:t>
            </a:r>
            <a:r>
              <a:rPr sz="2000" b="1">
                <a:solidFill>
                  <a:srgbClr val="D6001C"/>
                </a:solidFill>
              </a:rPr>
              <a:t>PARTIAL</a:t>
            </a:r>
            <a:r>
              <a:rPr sz="2000" b="0">
                <a:solidFill>
                  <a:srgbClr val="4A4A4A"/>
                </a:solidFill>
              </a:rPr>
              <a:t>   ·   illustrative extract, not a real PRODOC.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Why every criterion is run 10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A language model is not deterministic.</a:t>
            </a:r>
            <a:r>
              <a:rPr sz="2600" b="0">
                <a:solidFill>
                  <a:srgbClr val="4A4A4A"/>
                </a:solidFill>
              </a:rPr>
              <a:t>  The same question about the same document can produce different answers.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Asking once would be fragile.</a:t>
            </a:r>
            <a:r>
              <a:rPr sz="2600" b="0">
                <a:solidFill>
                  <a:srgbClr val="4A4A4A"/>
                </a:solidFill>
              </a:rPr>
              <a:t>  We would be handing you the result of a single roll.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The fix: repeat and consolidate.</a:t>
            </a:r>
            <a:r>
              <a:rPr sz="2600" b="0">
                <a:solidFill>
                  <a:srgbClr val="4A4A4A"/>
                </a:solidFill>
              </a:rPr>
              <a:t>  Each criterion is evaluated 10 times independently and the most frequent result (the mode) is taken.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Disagreement is information, not noise.</a:t>
            </a:r>
            <a:r>
              <a:rPr sz="2600" b="0">
                <a:solidFill>
                  <a:srgbClr val="4A4A4A"/>
                </a:solidFill>
              </a:rPr>
              <a:t>  How many of the 10 runs agreed is reported to you, and you should read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A full appraisal is </a:t>
            </a:r>
            <a:r>
              <a:rPr sz="2000" b="0">
                <a:solidFill>
                  <a:srgbClr val="4A4A4A"/>
                </a:solidFill>
              </a:rPr>
              <a:t>76 criteria × 10 runs ≈ </a:t>
            </a:r>
            <a:r>
              <a:rPr sz="2000" b="1">
                <a:solidFill>
                  <a:srgbClr val="D6001C"/>
                </a:solidFill>
              </a:rPr>
              <a:t>760 model calls</a:t>
            </a:r>
            <a:r>
              <a:rPr sz="2000" b="0">
                <a:solidFill>
                  <a:srgbClr val="4A4A4A"/>
                </a:solidFill>
              </a:rPr>
              <a:t>. That is why it takes minutes, and why filtering by section pays 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Where the randomness comes from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042"/>
                <a:gridCol w="4659630"/>
                <a:gridCol w="3461439"/>
              </a:tblGrid>
              <a:tr h="650467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How we control it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Probabilistic generation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The model picks among possible continuations; not always the same one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10 runs + modal result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Ambiguous criteria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Where the rubric admits a reading, the model may lean differently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Closed tests and explicit decision rules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Scattered evidence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If evidence is spread out, different runs quote different passages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The DEDICATED / FRAMING filter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Long documents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More text, more room for partial reading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Structured extraction, one criterion at a time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Randomness is not eliminated: it is measured and reported. </a:t>
            </a:r>
            <a:r>
              <a:rPr sz="2000" b="0">
                <a:solidFill>
                  <a:srgbClr val="4A4A4A"/>
                </a:solidFill>
              </a:rPr>
              <a:t>That is better than hiding it behind a single answer.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«stability»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500" b="1">
                <a:solidFill>
                  <a:srgbClr val="003E7E"/>
                </a:solidFill>
              </a:rPr>
              <a:t>Stability (%)  =  </a:t>
            </a:r>
            <a:r>
              <a:rPr sz="2500" b="0">
                <a:solidFill>
                  <a:srgbClr val="4A4A4A"/>
                </a:solidFill>
              </a:rPr>
              <a:t>of the 10 runs, how many agreed with the final result.</a:t>
            </a:r>
          </a:p>
          <a:p>
            <a:pPr>
              <a:spcBef>
                <a:spcPts val="1000"/>
              </a:spcBef>
            </a:pPr>
            <a:r>
              <a:rPr sz="2100" b="0">
                <a:solidFill>
                  <a:srgbClr val="4A4A4A"/>
                </a:solidFill>
              </a:rPr>
              <a:t>Institutional threshold: </a:t>
            </a:r>
            <a:r>
              <a:rPr sz="2100" b="1">
                <a:solidFill>
                  <a:srgbClr val="D6001C"/>
                </a:solidFill>
              </a:rPr>
              <a:t>80%</a:t>
            </a:r>
            <a:r>
              <a:rPr sz="2100" b="0">
                <a:solidFill>
                  <a:srgbClr val="4A4A4A"/>
                </a:solidFill>
              </a:rPr>
              <a:t>. Below it, the criterion is flagged for human review.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788920"/>
          <a:ext cx="11183110" cy="2898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16"/>
                <a:gridCol w="3727703"/>
                <a:gridCol w="5325291"/>
              </a:tblGrid>
              <a:tr h="521756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Stability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Reading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What to do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100 – 80%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The model was consistent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Treat as a solid diagnosis; still verify the evidence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D6001C"/>
                          </a:solidFill>
                        </a:rPr>
                        <a:t>79 – 50%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The runs disagreed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Human review required; read the «Resultado Alternativo»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D6001C"/>
                          </a:solidFill>
                        </a:rPr>
                        <a:t>&lt; 50%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No real consensus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The criterion is ambiguous or the evidence thin: you decide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Stability does not measure whether the Agent was right. </a:t>
            </a:r>
            <a:r>
              <a:rPr sz="2000" b="0">
                <a:solidFill>
                  <a:srgbClr val="4A4A4A"/>
                </a:solidFill>
              </a:rPr>
              <a:t>It measures how confident it was internally. A confidently wrong 100% is possible: always verify the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Subjective criteria and human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Every criterion carries a subjectivity label: </a:t>
            </a:r>
            <a:r>
              <a:rPr sz="2600" b="1">
                <a:solidFill>
                  <a:srgbClr val="D6001C"/>
                </a:solidFill>
              </a:rPr>
              <a:t>High · Medium · Low</a:t>
            </a:r>
            <a:r>
              <a:rPr sz="2600" b="0">
                <a:solidFill>
                  <a:srgbClr val="4A4A4A"/>
                </a:solidFill>
              </a:rPr>
              <a:t>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High subjectivity</a:t>
            </a:r>
            <a:r>
              <a:rPr sz="2600" b="0">
                <a:solidFill>
                  <a:srgbClr val="4A4A4A"/>
                </a:solidFill>
              </a:rPr>
              <a:t> means the judgement depends on institutional context, not just the text. Example: whether a gender approach is «transformative».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These criteria get more reasoning</a:t>
            </a:r>
            <a:r>
              <a:rPr sz="2600" b="0">
                <a:solidFill>
                  <a:srgbClr val="4A4A4A"/>
                </a:solidFill>
              </a:rPr>
              <a:t> from the model and are always flagged in the «Revisión humana recomendada» column.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Two triggers for that flag:</a:t>
            </a:r>
            <a:r>
              <a:rPr sz="2600" b="0">
                <a:solidFill>
                  <a:srgbClr val="4A4A4A"/>
                </a:solidFill>
              </a:rPr>
              <a:t>  high subjectivity, or stability below 80%.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Use it as a work queue:  </a:t>
            </a:r>
            <a:r>
              <a:rPr sz="2000" b="0">
                <a:solidFill>
                  <a:srgbClr val="4A4A4A"/>
                </a:solidFill>
              </a:rPr>
              <a:t>start with the flagged criteria. That is where your professional judgement adds the most.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000" b="1">
                <a:solidFill>
                  <a:srgbClr val="FFFFFF"/>
                </a:solidFill>
              </a:rPr>
              <a:t>Strengths and trade-offs of this technology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044"/>
                <a:gridCol w="4715770"/>
                <a:gridCol w="4446297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Trade-off / cost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Coverage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Reviews all 76 criteria without fatigue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reviews what is written, not what is known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Time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Frees specialist hours to work on the gaps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 full run takes several minutes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Traceability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Quotes the evidence and shows the reasoning per test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It produces a lot of detail: you must know how to read it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Consistency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Applies the same rubric to every project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Not deterministic: hence the repeats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Cost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Low per document against the equivalent human time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Billed per call: the budget is finite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Tokens and budget:  </a:t>
            </a:r>
            <a:r>
              <a:rPr sz="2000" b="0">
                <a:solidFill>
                  <a:srgbClr val="4A4A4A"/>
                </a:solidFill>
              </a:rPr>
              <a:t>cost depends on the size of the PRODOC and how many criteria are run. Filtering by section is the direct saving lever.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about the ILO Enterprise GPT?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044"/>
                <a:gridCol w="4311561"/>
                <a:gridCol w="4850506"/>
              </a:tblGrid>
              <a:tr h="464619">
                <a:tc>
                  <a:txBody>
                    <a:bodyPr/>
                    <a:lstStyle/>
                    <a:p>
                      <a:pPr/>
                      <a:r>
                        <a:rPr b="1" sz="20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000">
                          <a:solidFill>
                            <a:srgbClr val="FFFFFF"/>
                          </a:solidFill>
                        </a:rPr>
                        <a:t>Enterprise GPT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000">
                          <a:solidFill>
                            <a:srgbClr val="FFFFFF"/>
                          </a:solidFill>
                        </a:rPr>
                        <a:t>Appraisal Checklist Agent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Rubric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Would have to be uploaded in every conversation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Server-side, single version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Application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General reading of the attached file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Each criterion run separately, with its tests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Repetition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One single pass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10 runs per criterion + modal result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Stability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Not available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Reported per criterion, 80% threshold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Output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Text in the conversation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Structured Excel, auditable and archivable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Access today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D6001C"/>
                          </a:solidFill>
                        </a:rPr>
                        <a:t>No access to the Agent from the enterprise environment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A ChatGPT link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The added value is not «using AI»:  </a:t>
            </a:r>
            <a:r>
              <a:rPr sz="2000" b="0">
                <a:solidFill>
                  <a:srgbClr val="4A4A4A"/>
                </a:solidFill>
              </a:rPr>
              <a:t>it is the institutional rubric applied criterion by criterion, repeated and measured. A generic GPT does not reproduce that.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The three limits to keep in mind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737360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737360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000" b="1">
                <a:solidFill>
                  <a:srgbClr val="003E7E"/>
                </a:solidFill>
              </a:rPr>
              <a:t>It is a complete first review,  </a:t>
            </a:r>
            <a:r>
              <a:rPr sz="3000" b="0">
                <a:solidFill>
                  <a:srgbClr val="4A4A4A"/>
                </a:solidFill>
              </a:rPr>
              <a:t>not a deterministic diagnosis. It flags gaps for you to examine.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84576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84576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3084576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3084576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000" b="1">
                <a:solidFill>
                  <a:srgbClr val="003E7E"/>
                </a:solidFill>
              </a:rPr>
              <a:t>It works on the document's evidence,  </a:t>
            </a:r>
            <a:r>
              <a:rPr sz="3000" b="0">
                <a:solidFill>
                  <a:srgbClr val="4A4A4A"/>
                </a:solidFill>
              </a:rPr>
              <a:t>not on the real project or on what you know about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1792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31792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4431792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4431792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000" b="1">
                <a:solidFill>
                  <a:srgbClr val="003E7E"/>
                </a:solidFill>
              </a:rPr>
              <a:t>It does not replace the appraiser's judgement.  </a:t>
            </a:r>
            <a:r>
              <a:rPr sz="3000" b="0">
                <a:solidFill>
                  <a:srgbClr val="4A4A4A"/>
                </a:solidFill>
              </a:rPr>
              <a:t>The result is an input; the determination stays human.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No output constitutes an official ILO determination. </a:t>
            </a:r>
            <a:r>
              <a:rPr sz="2000" b="0">
                <a:solidFill>
                  <a:srgbClr val="4A4A4A"/>
                </a:solidFill>
              </a:rPr>
              <a:t>It is an AI-assisted assessment that requires expert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514600"/>
            <a:ext cx="3108960" cy="82296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6100" b="1">
                <a:solidFill>
                  <a:srgbClr val="FFFFFF"/>
                </a:solidFill>
              </a:rPr>
              <a:t>Part 2 · The tool in use</a:t>
            </a:r>
          </a:p>
          <a:p>
            <a:pPr>
              <a:spcBef>
                <a:spcPts val="1600"/>
              </a:spcBef>
            </a:pPr>
            <a:r>
              <a:rPr sz="3300" b="0">
                <a:solidFill>
                  <a:srgbClr val="FFFFFF"/>
                </a:solidFill>
              </a:rPr>
              <a:t>Upload  →  scope  →  run  →  download  →  interpret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The full flow, in five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Upload the PRODOC  </a:t>
            </a:r>
            <a:r>
              <a:rPr sz="2600" b="0">
                <a:solidFill>
                  <a:srgbClr val="4A4A4A"/>
                </a:solidFill>
              </a:rPr>
              <a:t>one .docx file per appraisal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Set the scope  </a:t>
            </a:r>
            <a:r>
              <a:rPr sz="2600" b="0">
                <a:solidFill>
                  <a:srgbClr val="4A4A4A"/>
                </a:solidFill>
              </a:rPr>
              <a:t>full rubric, one section, or specific subsections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Run  </a:t>
            </a:r>
            <a:r>
              <a:rPr sz="2600" b="0">
                <a:solidFill>
                  <a:srgbClr val="4A4A4A"/>
                </a:solidFill>
              </a:rPr>
              <a:t>the Agent starts the job and tracks it until it finishes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Download the Excel  </a:t>
            </a:r>
            <a:r>
              <a:rPr sz="2600" b="0">
                <a:solidFill>
                  <a:srgbClr val="4A4A4A"/>
                </a:solidFill>
              </a:rPr>
              <a:t>it is the auditable record of the appraisal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Interpret  </a:t>
            </a:r>
            <a:r>
              <a:rPr sz="2600" b="0">
                <a:solidFill>
                  <a:srgbClr val="4A4A4A"/>
                </a:solidFill>
              </a:rPr>
              <a:t>locate the evidence and prioritise the flagged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State the scope in the same message as the upload:  </a:t>
            </a:r>
            <a:r>
              <a:rPr sz="2000" b="0">
                <a:solidFill>
                  <a:srgbClr val="4A4A4A"/>
                </a:solidFill>
              </a:rPr>
              <a:t>it saves a round of questions and caps the cost from the start.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Steps 1 and 2 · Upload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47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Open the Agent and say hello.</a:t>
            </a:r>
            <a:r>
              <a:rPr sz="2500" b="0">
                <a:solidFill>
                  <a:srgbClr val="4A4A4A"/>
                </a:solidFill>
              </a:rPr>
              <a:t>  It introduces itself: what it assesses, which sections exist, what you can filter. That costs no appraisal.</a:t>
            </a:r>
          </a:p>
          <a:p>
            <a:pPr>
              <a:spcAft>
                <a:spcPts val="1547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Attach a single .docx.</a:t>
            </a:r>
            <a:r>
              <a:rPr sz="2500" b="0">
                <a:solidFill>
                  <a:srgbClr val="4A4A4A"/>
                </a:solidFill>
              </a:rPr>
              <a:t>  If you upload several, the Agent will ask which one: one document per appraisal.</a:t>
            </a:r>
          </a:p>
          <a:p>
            <a:pPr>
              <a:spcAft>
                <a:spcPts val="1547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Say what you want assessed.</a:t>
            </a:r>
            <a:r>
              <a:rPr sz="2500" b="0">
                <a:solidFill>
                  <a:srgbClr val="4A4A4A"/>
                </a:solidFill>
              </a:rPr>
              <a:t>  Example instructions:</a:t>
            </a:r>
          </a:p>
          <a:p>
            <a:pPr lvl="1">
              <a:spcAft>
                <a:spcPts val="1547"/>
              </a:spcAft>
            </a:pPr>
            <a:r>
              <a:rPr sz="2500" b="0" i="1">
                <a:solidFill>
                  <a:srgbClr val="4A4A4A"/>
                </a:solidFill>
              </a:rPr>
              <a:t>«Assess this PRODOC against the full rubric»</a:t>
            </a:r>
          </a:p>
          <a:p>
            <a:pPr lvl="1">
              <a:spcAft>
                <a:spcPts val="1547"/>
              </a:spcAft>
            </a:pPr>
            <a:r>
              <a:rPr sz="2500" b="0" i="1">
                <a:solidFill>
                  <a:srgbClr val="4A4A4A"/>
                </a:solidFill>
              </a:rPr>
              <a:t>«Assess only section 3 (results framework) and summarise the gaps»</a:t>
            </a:r>
          </a:p>
          <a:p>
            <a:pPr lvl="1">
              <a:spcAft>
                <a:spcPts val="1547"/>
              </a:spcAft>
            </a:pPr>
            <a:r>
              <a:rPr sz="2500" b="0" i="1">
                <a:solidFill>
                  <a:srgbClr val="4A4A4A"/>
                </a:solidFill>
              </a:rPr>
              <a:t>«Assess only 1.1 and 2.3»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Where to start:  </a:t>
            </a:r>
            <a:r>
              <a:rPr sz="2000" b="0">
                <a:solidFill>
                  <a:srgbClr val="4A4A4A"/>
                </a:solidFill>
              </a:rPr>
              <a:t>one section first. It arrives sooner, costs less, and lets you calibrate your reading before a full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Step 3 · What happens while it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The Agent downloads the document  </a:t>
            </a:r>
            <a:r>
              <a:rPr sz="2600" b="0">
                <a:solidFill>
                  <a:srgbClr val="4A4A4A"/>
                </a:solidFill>
              </a:rPr>
              <a:t>and extracts its text by section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It loads the server-side rubric  </a:t>
            </a:r>
            <a:r>
              <a:rPr sz="2600" b="0">
                <a:solidFill>
                  <a:srgbClr val="4A4A4A"/>
                </a:solidFill>
              </a:rPr>
              <a:t>and filters to the criteria you asked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It runs the evaluations in parallel  </a:t>
            </a:r>
            <a:r>
              <a:rPr sz="2600" b="0">
                <a:solidFill>
                  <a:srgbClr val="4A4A4A"/>
                </a:solidFill>
              </a:rPr>
              <a:t>each criterion, 10 times, up to 48 concurrent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It consolidates each criterion  </a:t>
            </a:r>
            <a:r>
              <a:rPr sz="2600" b="0">
                <a:solidFill>
                  <a:srgbClr val="4A4A4A"/>
                </a:solidFill>
              </a:rPr>
              <a:t>modal result + stability percentage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It builds the Excel  </a:t>
            </a:r>
            <a:r>
              <a:rPr sz="2600" b="0">
                <a:solidFill>
                  <a:srgbClr val="4A4A4A"/>
                </a:solidFill>
              </a:rPr>
              <a:t>and attaches it to the conversation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No need to ask «is it done yet?»:  </a:t>
            </a:r>
            <a:r>
              <a:rPr sz="2000" b="0">
                <a:solidFill>
                  <a:srgbClr val="4A4A4A"/>
                </a:solidFill>
              </a:rPr>
              <a:t>the Agent reports progress on its own — «180/760 (24%), about 3 minutes left» — until it delivers the file.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Step 4 · The results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80"/>
              </a:spcAft>
            </a:pPr>
            <a:r>
              <a:rPr sz="1600" b="1">
                <a:solidFill>
                  <a:srgbClr val="003E7E"/>
                </a:solidFill>
              </a:rPr>
              <a:t>Sheet 1 · «Resultado Diagnostico»</a:t>
            </a:r>
            <a:r>
              <a:rPr sz="1600" b="0">
                <a:solidFill>
                  <a:srgbClr val="4A4A4A"/>
                </a:solidFill>
              </a:rPr>
              <a:t>  — one row per criterion assessed. It is the auditable record: keep it.</a:t>
            </a:r>
          </a:p>
          <a:p>
            <a:pPr>
              <a:spcAft>
                <a:spcPts val="480"/>
              </a:spcAft>
            </a:pPr>
            <a:r>
              <a:rPr sz="1600" b="1">
                <a:solidFill>
                  <a:srgbClr val="003E7E"/>
                </a:solidFill>
              </a:rPr>
              <a:t>Sheet 2 · «Rubrica aplicada»</a:t>
            </a:r>
            <a:r>
              <a:rPr sz="1600" b="0">
                <a:solidFill>
                  <a:srgbClr val="4A4A4A"/>
                </a:solidFill>
              </a:rPr>
              <a:t>  — the definition of each criterion assessed: its checks and its decision rules.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12848"/>
          <a:ext cx="11183110" cy="347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725"/>
                <a:gridCol w="4985242"/>
                <a:gridCol w="3503143"/>
              </a:tblGrid>
              <a:tr h="416966"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Column group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What it holds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What it is for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Identification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ID · Subsección · Criterio · Transversales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Locate the criterion in the Checklist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Result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Respuesta (Yes / Partial / No / Not Found / N/A)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The diagnosis for that criterion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Confidence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Estabilidad (%) · Estable (≥80%) · Resultado Alternativo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How far the 10 runs agreed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Support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Razonamiento (check by check) · Evidencia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Verify why it reached that result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11550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Priority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D6001C"/>
                          </a:solidFill>
                        </a:rPr>
                        <a:t>Revisión humana recomendada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Your work queue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1900" b="1">
                <a:solidFill>
                  <a:srgbClr val="003E7E"/>
                </a:solidFill>
              </a:rPr>
              <a:t>Sheet 2 makes the file self-contained:  </a:t>
            </a:r>
            <a:r>
              <a:rPr sz="1900" b="0">
                <a:solidFill>
                  <a:srgbClr val="4A4A4A"/>
                </a:solidFill>
              </a:rPr>
              <a:t>an auditor sees the rule next to the verdict, without opening the rubric separately. Column headers are in Spanish, as the file produces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How to read a row,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Look at the Respuesta  </a:t>
            </a:r>
            <a:r>
              <a:rPr sz="2600" b="0">
                <a:solidFill>
                  <a:srgbClr val="4A4A4A"/>
                </a:solidFill>
              </a:rPr>
              <a:t>Yes / Partial / No / Not Found / N/A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Look at the Estabilidad  </a:t>
            </a:r>
            <a:r>
              <a:rPr sz="2600" b="0">
                <a:solidFill>
                  <a:srgbClr val="4A4A4A"/>
                </a:solidFill>
              </a:rPr>
              <a:t>did the 10 runs agree, or was there disagreement?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Read the Evidencia  </a:t>
            </a:r>
            <a:r>
              <a:rPr sz="2600" b="0">
                <a:solidFill>
                  <a:srgbClr val="4A4A4A"/>
                </a:solidFill>
              </a:rPr>
              <a:t>does that passage genuinely support the result?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Read the Razonamiento  </a:t>
            </a:r>
            <a:r>
              <a:rPr sz="2600" b="0">
                <a:solidFill>
                  <a:srgbClr val="4A4A4A"/>
                </a:solidFill>
              </a:rPr>
              <a:t>which check failed, and on what grounds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Decide  </a:t>
            </a:r>
            <a:r>
              <a:rPr sz="2600" b="0">
                <a:solidFill>
                  <a:srgbClr val="4A4A4A"/>
                </a:solidFill>
              </a:rPr>
              <a:t>design gap, documentation gap, or Agent error?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«Not Found» is not «No»:  </a:t>
            </a:r>
            <a:r>
              <a:rPr sz="2000" b="0">
                <a:solidFill>
                  <a:srgbClr val="4A4A4A"/>
                </a:solidFill>
              </a:rPr>
              <a:t>«No» says the criterion is not met; «Not Found» says the document does not let you tell. And never accept an answer without opening the evidence.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500" b="1">
                <a:solidFill>
                  <a:srgbClr val="FFFFFF"/>
                </a:solidFill>
              </a:rPr>
              <a:t>What the «Razonamiento» column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7452360" cy="44988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4008" cy="449884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98448"/>
            <a:ext cx="706831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POR QUÉ PARTIAL</a:t>
            </a:r>
            <a:r>
              <a:rPr sz="1800" b="0">
                <a:solidFill>
                  <a:srgbClr val="4A4A4A"/>
                </a:solidFill>
              </a:rPr>
              <a:t> · Se cumplen 2 de 3 chequeos.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>Falta: articular cómo el proyecto cuestiona normas de poder.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VERIFICACIÓN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72BC"/>
                </a:solidFill>
              </a:rPr>
              <a:t>✓ </a:t>
            </a:r>
            <a:r>
              <a:rPr sz="1800" b="0">
                <a:solidFill>
                  <a:srgbClr val="4A4A4A"/>
                </a:solidFill>
              </a:rPr>
              <a:t>¿Distingue el tipo de enfoque?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la sección 3.2 distingue los tres enfoques.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D6001C"/>
                </a:solidFill>
              </a:rPr>
              <a:t>✗ </a:t>
            </a:r>
            <a:r>
              <a:rPr sz="1800" b="0">
                <a:solidFill>
                  <a:srgbClr val="4A4A4A"/>
                </a:solidFill>
              </a:rPr>
              <a:t>¿Articula cómo cuestiona normas de poder?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no se explica el mecanismo en ninguna sección.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72BC"/>
                </a:solidFill>
              </a:rPr>
              <a:t>✓ </a:t>
            </a:r>
            <a:r>
              <a:rPr sz="1800" b="0">
                <a:solidFill>
                  <a:srgbClr val="4A4A4A"/>
                </a:solidFill>
              </a:rPr>
              <a:t>¿Acciones dedicadas a transformar relaciones?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actividad 2.4, con presupuesto asignado.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ESTABILIDAD</a:t>
            </a:r>
            <a:r>
              <a:rPr sz="1800" b="0">
                <a:solidFill>
                  <a:srgbClr val="4A4A4A"/>
                </a:solidFill>
              </a:rPr>
              <a:t> · 6 de 10 corridas coincidieron. Alternativo: No.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REGLA</a:t>
            </a:r>
            <a:r>
              <a:rPr sz="1800" b="0">
                <a:solidFill>
                  <a:srgbClr val="4A4A4A"/>
                </a:solidFill>
              </a:rPr>
              <a:t> · se requieren los 3 chequeos  (T1 ∧ T2 ∧ T3)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188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800" b="1">
                <a:solidFill>
                  <a:srgbClr val="003E7E"/>
                </a:solidFill>
              </a:rPr>
              <a:t>POR QUÉ / why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the reason, in one line. If you are in a hurry, read only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31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331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331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800" b="1">
                <a:solidFill>
                  <a:srgbClr val="003E7E"/>
                </a:solidFill>
              </a:rPr>
              <a:t>VERIFICACIÓN / checks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each check stated in full, with ✓ / ✗ and its justification.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474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474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474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800" b="1">
                <a:solidFill>
                  <a:srgbClr val="003E7E"/>
                </a:solidFill>
              </a:rPr>
              <a:t>ESTABILIDAD / stability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how many of the 10 runs agreed.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617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617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617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800" b="1">
                <a:solidFill>
                  <a:srgbClr val="003E7E"/>
                </a:solidFill>
              </a:rPr>
              <a:t>REGLA / rule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the formal Checklist rule, for 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No more decoding «T1 ∧ T2 ∧ T3»:  </a:t>
            </a:r>
            <a:r>
              <a:rPr sz="2000" b="0">
                <a:solidFill>
                  <a:srgbClr val="4A4A4A"/>
                </a:solidFill>
              </a:rPr>
              <a:t>each check reads on its own. The output is in Spanish; the formal rule stays at the foot for anyone tracing the result.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900" b="1">
                <a:solidFill>
                  <a:srgbClr val="FFFFFF"/>
                </a:solidFill>
              </a:rPr>
              <a:t>Step 5 · Locating the evidence in the PRODOC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The Evidencia column holds the verbatim quotation</a:t>
            </a:r>
            <a:r>
              <a:rPr sz="2300" b="0">
                <a:solidFill>
                  <a:srgbClr val="4A4A4A"/>
                </a:solidFill>
              </a:rPr>
              <a:t> the Agent used. Search for it in the PRODOC with Ctrl+F to see it in context.</a:t>
            </a:r>
          </a:p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When the evidence is an absence,</a:t>
            </a:r>
            <a:r>
              <a:rPr sz="2300" b="0">
                <a:solidFill>
                  <a:srgbClr val="4A4A4A"/>
                </a:solidFill>
              </a:rPr>
              <a:t> the Agent says so explicitly: «No se encontró sección X». That is a verifiable finding too.</a:t>
            </a:r>
          </a:p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Three possible outcomes when you verify: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The information is there and the Agent missed it </a:t>
            </a:r>
            <a:r>
              <a:rPr sz="2300" b="0">
                <a:solidFill>
                  <a:srgbClr val="4A4A4A"/>
                </a:solidFill>
              </a:rPr>
              <a:t>→ discard the automated diagnosis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It is not written, but the formulator knows it </a:t>
            </a:r>
            <a:r>
              <a:rPr sz="2300" b="0">
                <a:solidFill>
                  <a:srgbClr val="4A4A4A"/>
                </a:solidFill>
              </a:rPr>
              <a:t>→ improve the PRODOC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It does not exist yet </a:t>
            </a:r>
            <a:r>
              <a:rPr sz="2300" b="0">
                <a:solidFill>
                  <a:srgbClr val="4A4A4A"/>
                </a:solidFill>
              </a:rPr>
              <a:t>→ resolve before closing formulation, or carry into inception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400" b="1">
                <a:solidFill>
                  <a:srgbClr val="003E7E"/>
                </a:solidFill>
              </a:rPr>
              <a:t>The formula:  </a:t>
            </a:r>
            <a:r>
              <a:rPr sz="2400" b="0">
                <a:solidFill>
                  <a:srgbClr val="4A4A4A"/>
                </a:solidFill>
              </a:rPr>
              <a:t>does it exist?  →  is it sufficient?  →  is it documented?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Linking to other ILO resources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796"/>
                <a:gridCol w="3960685"/>
                <a:gridCol w="4659630"/>
              </a:tblGrid>
              <a:tr h="813084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Resource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What it adds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Example use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Chat with the Agent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Ask about the result already produced, in plain language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«Summarise the section 3 gaps in three points»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The other GPTs built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Specific Attributes (gender, participation, just transition) and Sustainability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Go deeper on a theme the Checklist only touches transversally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i-EVal chatbot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Evidence from previous evaluations in the region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«What recurring problems have evaluations found in projects relying on labour ministries?»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The Excel is not the end of the process:  </a:t>
            </a:r>
            <a:r>
              <a:rPr sz="2000" b="0">
                <a:solidFill>
                  <a:srgbClr val="4A4A4A"/>
                </a:solidFill>
              </a:rPr>
              <a:t>it is the starting point of the conversation with the formulating team.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Frequently asked questions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527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955"/>
                <a:gridCol w="7138156"/>
              </a:tblGrid>
              <a:tr h="542683"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Short answer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Why can an answer change?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The model is not deterministic. Hence 10 repeats and a reported stability figure.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What does 50–70% stability mean?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The runs disagreed: ambiguous criterion or thin evidence. Human review.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Why did it miss something I know is there?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It only reads the document. If it is there and was missed, verify and discard the diagnosis.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Why no improvement recommendations?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It holds no knowledge beyond the document. Recommendations come from your reading.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What does a PRODOC cost to assess?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It depends on document size and how many criteria are run. Filtering cuts the cost.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Can I assess other documents?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Dedicated agents exist for gender, participation, just transition and sustainability.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What to take away from this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The Agent reads the document, not the project.</a:t>
            </a:r>
            <a:r>
              <a:rPr sz="2600" b="0">
                <a:solidFill>
                  <a:srgbClr val="4A4A4A"/>
                </a:solidFill>
              </a:rPr>
              <a:t>  A «No» may be a design gap or simply something undocumented. Telling them apart is your job.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It runs 10 times and tells you how far they agreed.</a:t>
            </a:r>
            <a:r>
              <a:rPr sz="2600" b="0">
                <a:solidFill>
                  <a:srgbClr val="4A4A4A"/>
                </a:solidFill>
              </a:rPr>
              <a:t>  Stability is a measure of internal confidence, not of correctness.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Every result comes with its evidence.</a:t>
            </a:r>
            <a:r>
              <a:rPr sz="2600" b="0">
                <a:solidFill>
                  <a:srgbClr val="4A4A4A"/>
                </a:solidFill>
              </a:rPr>
              <a:t>  Always verify it: that is what makes the diagnosis defensible to the formulating team.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The «Revisión humana recomendada» column is your work queue.</a:t>
            </a:r>
            <a:r>
              <a:rPr sz="2600" b="0">
                <a:solidFill>
                  <a:srgbClr val="4A4A4A"/>
                </a:solidFill>
              </a:rPr>
              <a:t>  Start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200" b="1">
                <a:solidFill>
                  <a:srgbClr val="003E7E"/>
                </a:solidFill>
              </a:rPr>
              <a:t>The value of the tool depends on the quality of the human review that follows.</a:t>
            </a:r>
            <a:r>
              <a:rPr sz="2200" b="0">
                <a:solidFill>
                  <a:srgbClr val="4A4A4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88920"/>
            <a:ext cx="3108960" cy="82296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6600" b="1">
                <a:solidFill>
                  <a:srgbClr val="FFFFFF"/>
                </a:solidFill>
              </a:rPr>
              <a:t>Questions</a:t>
            </a:r>
          </a:p>
          <a:p>
            <a:pPr>
              <a:spcBef>
                <a:spcPts val="1400"/>
              </a:spcBef>
            </a:pPr>
            <a:r>
              <a:rPr sz="2700" b="0">
                <a:solidFill>
                  <a:srgbClr val="FFFFFF"/>
                </a:solidFill>
              </a:rPr>
              <a:t>GPT Agent · PRODOC Appraisal Checklist   ·   Ahmed Eid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