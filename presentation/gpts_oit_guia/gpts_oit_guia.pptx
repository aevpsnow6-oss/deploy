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4000" b="1">
                <a:solidFill>
                  <a:srgbClr val="003E7E"/>
                </a:solidFill>
              </a:rPr>
              <a:t>Asistentes GPT para la Valoración
de Documentos de Proyecto</a:t>
            </a:r>
          </a:p>
          <a:p>
            <a:pPr/>
            <a:r>
              <a:rPr sz="2100" b="1">
                <a:solidFill>
                  <a:srgbClr val="0072BC"/>
                </a:solidFill>
              </a:rPr>
              <a:t>Guía para equipos de evaluación, diseño de PRODOCs y procuración de fondos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206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2700">
                <a:solidFill>
                  <a:srgbClr val="4A4A4A"/>
                </a:solidFill>
              </a:rPr>
              <a:t>Organización Internacional del Trabajo (OIT)
Oficina Regional para América Latina y el Caribe        ·        Junio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91695" cy="54864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800" b="1">
                <a:solidFill>
                  <a:srgbClr val="FFFFFF"/>
                </a:solidFill>
              </a:rPr>
              <a:t>Contenido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486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450"/>
              </a:spcAft>
            </a:pPr>
            <a:r>
              <a:rPr sz="3200" b="0">
                <a:solidFill>
                  <a:srgbClr val="4A4A4A"/>
                </a:solidFill>
              </a:rPr>
              <a:t>1. ¿Qué son y qué no son estos asistentes?</a:t>
            </a:r>
          </a:p>
          <a:p>
            <a:pPr>
              <a:spcAft>
                <a:spcPts val="2450"/>
              </a:spcAft>
            </a:pPr>
            <a:r>
              <a:rPr sz="3200" b="0">
                <a:solidFill>
                  <a:srgbClr val="4A4A4A"/>
                </a:solidFill>
              </a:rPr>
              <a:t>2. Las tres herramientas de un vistazo</a:t>
            </a:r>
          </a:p>
          <a:p>
            <a:pPr>
              <a:spcAft>
                <a:spcPts val="2450"/>
              </a:spcAft>
            </a:pPr>
            <a:r>
              <a:rPr sz="3200" b="0">
                <a:solidFill>
                  <a:srgbClr val="4A4A4A"/>
                </a:solidFill>
              </a:rPr>
              <a:t>3. Las rúbricas y su contenido</a:t>
            </a:r>
          </a:p>
          <a:p>
            <a:pPr>
              <a:spcAft>
                <a:spcPts val="2450"/>
              </a:spcAft>
            </a:pPr>
            <a:r>
              <a:rPr sz="3200" b="0">
                <a:solidFill>
                  <a:srgbClr val="4A4A4A"/>
                </a:solidFill>
              </a:rPr>
              <a:t>4. Cómo realizan la evaluación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80160"/>
            <a:ext cx="5486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450"/>
              </a:spcAft>
            </a:pPr>
            <a:r>
              <a:rPr sz="3200" b="0">
                <a:solidFill>
                  <a:srgbClr val="4A4A4A"/>
                </a:solidFill>
              </a:rPr>
              <a:t>5. Cómo se evalúa: tests, evidencia y consistencia</a:t>
            </a:r>
          </a:p>
          <a:p>
            <a:pPr>
              <a:spcAft>
                <a:spcPts val="2450"/>
              </a:spcAft>
            </a:pPr>
            <a:r>
              <a:rPr sz="3200" b="0">
                <a:solidFill>
                  <a:srgbClr val="4A4A4A"/>
                </a:solidFill>
              </a:rPr>
              <a:t>6. Cómo leer los resultados</a:t>
            </a:r>
          </a:p>
          <a:p>
            <a:pPr>
              <a:spcAft>
                <a:spcPts val="2450"/>
              </a:spcAft>
            </a:pPr>
            <a:r>
              <a:rPr sz="3200" b="0">
                <a:solidFill>
                  <a:srgbClr val="4A4A4A"/>
                </a:solidFill>
              </a:rPr>
              <a:t>7. Cómo acceder: cuenta y enlaces</a:t>
            </a:r>
          </a:p>
          <a:p>
            <a:pPr>
              <a:spcAft>
                <a:spcPts val="2450"/>
              </a:spcAft>
            </a:pPr>
            <a:r>
              <a:rPr sz="3200" b="0">
                <a:solidFill>
                  <a:srgbClr val="4A4A4A"/>
                </a:solidFill>
              </a:rPr>
              <a:t>8. Cómo usarlos · Interactuar con el chat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800" b="1">
                <a:solidFill>
                  <a:srgbClr val="FFFFFF"/>
                </a:solidFill>
              </a:rPr>
              <a:t>¿Qué son estos asistentes?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l"/>
            <a:r>
              <a:rPr sz="1500" b="1">
                <a:solidFill>
                  <a:srgbClr val="003E7E"/>
                </a:solidFill>
              </a:rPr>
              <a:t>En una frase:  </a:t>
            </a:r>
            <a:r>
              <a:rPr sz="1500" b="0">
                <a:solidFill>
                  <a:srgbClr val="4A4A4A"/>
                </a:solidFill>
              </a:rPr>
              <a:t>tres asistentes conversacionales (GPTs en ChatGPT) que revisan un documento de proyecto y lo valoran contra una rúbrica institucional de la OIT, devolviendo un informe en Excel.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739"/>
              </a:spcAft>
            </a:pPr>
            <a:r>
              <a:rPr sz="2500">
                <a:solidFill>
                  <a:srgbClr val="D6001C"/>
                </a:solidFill>
              </a:rPr>
              <a:t>▪  </a:t>
            </a:r>
            <a:r>
              <a:rPr sz="2500" b="0">
                <a:solidFill>
                  <a:srgbClr val="4A4A4A"/>
                </a:solidFill>
              </a:rPr>
              <a:t>Usted sube un documento (.docx); el asistente lo evalúa </a:t>
            </a:r>
            <a:r>
              <a:rPr sz="2500" b="1">
                <a:solidFill>
                  <a:srgbClr val="D6001C"/>
                </a:solidFill>
              </a:rPr>
              <a:t>criterio por criterio</a:t>
            </a:r>
            <a:r>
              <a:rPr sz="2500" b="0">
                <a:solidFill>
                  <a:srgbClr val="4A4A4A"/>
                </a:solidFill>
              </a:rPr>
              <a:t>.</a:t>
            </a:r>
          </a:p>
          <a:p>
            <a:pPr>
              <a:spcAft>
                <a:spcPts val="1739"/>
              </a:spcAft>
            </a:pPr>
            <a:r>
              <a:rPr sz="2500">
                <a:solidFill>
                  <a:srgbClr val="D6001C"/>
                </a:solidFill>
              </a:rPr>
              <a:t>▪  </a:t>
            </a:r>
            <a:r>
              <a:rPr sz="2500" b="0">
                <a:solidFill>
                  <a:srgbClr val="4A4A4A"/>
                </a:solidFill>
              </a:rPr>
              <a:t>La rúbrica ya está </a:t>
            </a:r>
            <a:r>
              <a:rPr sz="2500" b="1">
                <a:solidFill>
                  <a:srgbClr val="003E7E"/>
                </a:solidFill>
              </a:rPr>
              <a:t>cargada en el sistema</a:t>
            </a:r>
            <a:r>
              <a:rPr sz="2500" b="0">
                <a:solidFill>
                  <a:srgbClr val="4A4A4A"/>
                </a:solidFill>
              </a:rPr>
              <a:t>: no hay que subirla ni configurarla.</a:t>
            </a:r>
          </a:p>
          <a:p>
            <a:pPr>
              <a:spcAft>
                <a:spcPts val="1739"/>
              </a:spcAft>
            </a:pPr>
            <a:r>
              <a:rPr sz="2500">
                <a:solidFill>
                  <a:srgbClr val="D6001C"/>
                </a:solidFill>
              </a:rPr>
              <a:t>▪  </a:t>
            </a:r>
            <a:r>
              <a:rPr sz="2500" b="0">
                <a:solidFill>
                  <a:srgbClr val="4A4A4A"/>
                </a:solidFill>
              </a:rPr>
              <a:t>El resultado es un </a:t>
            </a:r>
            <a:r>
              <a:rPr sz="2500" b="1">
                <a:solidFill>
                  <a:srgbClr val="003E7E"/>
                </a:solidFill>
              </a:rPr>
              <a:t>libro Excel descargable</a:t>
            </a:r>
            <a:r>
              <a:rPr sz="2500" b="0">
                <a:solidFill>
                  <a:srgbClr val="4A4A4A"/>
                </a:solidFill>
              </a:rPr>
              <a:t> con la valoración, la evidencia y las áreas que requieren revisión humana.</a:t>
            </a:r>
          </a:p>
          <a:p>
            <a:pPr>
              <a:spcAft>
                <a:spcPts val="1739"/>
              </a:spcAft>
            </a:pPr>
            <a:r>
              <a:rPr sz="2500">
                <a:solidFill>
                  <a:srgbClr val="D6001C"/>
                </a:solidFill>
              </a:rPr>
              <a:t>▪  </a:t>
            </a:r>
            <a:r>
              <a:rPr sz="2500" b="0">
                <a:solidFill>
                  <a:srgbClr val="4A4A4A"/>
                </a:solidFill>
              </a:rPr>
              <a:t>Pensado para su flujo de trabajo: </a:t>
            </a:r>
            <a:r>
              <a:rPr sz="2500" b="1">
                <a:solidFill>
                  <a:srgbClr val="D6001C"/>
                </a:solidFill>
              </a:rPr>
              <a:t>no requiere conocimientos técnicos de IA</a:t>
            </a:r>
            <a:r>
              <a:rPr sz="2500" b="0">
                <a:solidFill>
                  <a:srgbClr val="4A4A4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800" b="1">
                <a:solidFill>
                  <a:srgbClr val="FFFFFF"/>
                </a:solidFill>
              </a:rPr>
              <a:t>Qué NO son (para fijar expectativas)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4864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400" b="1">
                <a:solidFill>
                  <a:srgbClr val="003E7E"/>
                </a:solidFill>
              </a:rPr>
              <a:t>Sí es</a:t>
            </a:r>
          </a:p>
          <a:p>
            <a:pPr lvl="1">
              <a:spcAft>
                <a:spcPts val="1200"/>
              </a:spcAft>
            </a:pPr>
            <a:r>
              <a:rPr sz="2400" b="0">
                <a:solidFill>
                  <a:srgbClr val="4A4A4A"/>
                </a:solidFill>
              </a:rPr>
              <a:t>Una ayuda de valoración rápida y consistente.</a:t>
            </a:r>
          </a:p>
          <a:p>
            <a:pPr lvl="1">
              <a:spcAft>
                <a:spcPts val="1200"/>
              </a:spcAft>
            </a:pPr>
            <a:r>
              <a:rPr sz="2400" b="0">
                <a:solidFill>
                  <a:srgbClr val="4A4A4A"/>
                </a:solidFill>
              </a:rPr>
              <a:t>Un primer filtro estructurado, con evidencia citada del documento.</a:t>
            </a:r>
          </a:p>
          <a:p>
            <a:pPr lvl="1">
              <a:spcAft>
                <a:spcPts val="1200"/>
              </a:spcAft>
            </a:pPr>
            <a:r>
              <a:rPr sz="2400" b="0">
                <a:solidFill>
                  <a:srgbClr val="4A4A4A"/>
                </a:solidFill>
              </a:rPr>
              <a:t>Un punto de partida para la revisión experta.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4864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20"/>
              </a:spcAft>
            </a:pPr>
            <a:r>
              <a:rPr sz="2200" b="1">
                <a:solidFill>
                  <a:srgbClr val="D6001C"/>
                </a:solidFill>
              </a:rPr>
              <a:t>No es</a:t>
            </a:r>
          </a:p>
          <a:p>
            <a:pPr lvl="1">
              <a:spcAft>
                <a:spcPts val="1120"/>
              </a:spcAft>
            </a:pPr>
            <a:r>
              <a:rPr sz="2200" b="0">
                <a:solidFill>
                  <a:srgbClr val="4A4A4A"/>
                </a:solidFill>
              </a:rPr>
              <a:t>Una determinación oficial de la OIT.</a:t>
            </a:r>
          </a:p>
          <a:p>
            <a:pPr lvl="1">
              <a:spcAft>
                <a:spcPts val="1120"/>
              </a:spcAft>
            </a:pPr>
            <a:r>
              <a:rPr sz="2200" b="0">
                <a:solidFill>
                  <a:srgbClr val="4A4A4A"/>
                </a:solidFill>
              </a:rPr>
              <a:t>Un sustituto del juicio del evaluador.</a:t>
            </a:r>
          </a:p>
          <a:p>
            <a:pPr lvl="1">
              <a:spcAft>
                <a:spcPts val="1120"/>
              </a:spcAft>
            </a:pPr>
            <a:r>
              <a:rPr sz="2200" b="0">
                <a:solidFill>
                  <a:srgbClr val="4A4A4A"/>
                </a:solidFill>
              </a:rPr>
              <a:t>Infalible: los criterios subjetivos siempre requieren validación humana.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120640"/>
            <a:ext cx="11064240" cy="5029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500" b="0">
                <a:solidFill>
                  <a:srgbClr val="4A4A4A"/>
                </a:solidFill>
              </a:rPr>
              <a:t>Regla de oro: el resultado es </a:t>
            </a:r>
            <a:r>
              <a:rPr sz="1500" b="1">
                <a:solidFill>
                  <a:srgbClr val="D6001C"/>
                </a:solidFill>
              </a:rPr>
              <a:t>asistido por IA</a:t>
            </a:r>
            <a:r>
              <a:rPr sz="1500" b="0">
                <a:solidFill>
                  <a:srgbClr val="4A4A4A"/>
                </a:solidFill>
              </a:rPr>
              <a:t> y debe ser </a:t>
            </a:r>
            <a:r>
              <a:rPr sz="1500" b="1">
                <a:solidFill>
                  <a:srgbClr val="003E7E"/>
                </a:solidFill>
              </a:rPr>
              <a:t>validado por especialistas</a:t>
            </a:r>
            <a:r>
              <a:rPr sz="1500" b="0">
                <a:solidFill>
                  <a:srgbClr val="4A4A4A"/>
                </a:solidFill>
              </a:rPr>
              <a:t> antes de usarse en una decisión.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800" b="1">
                <a:solidFill>
                  <a:srgbClr val="FFFFFF"/>
                </a:solidFill>
              </a:rPr>
              <a:t>Las tres herramientas de un vistazo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3876"/>
                <a:gridCol w="3749040"/>
                <a:gridCol w="1826455"/>
                <a:gridCol w="2787747"/>
              </a:tblGrid>
              <a:tr h="91440">
                <a:tc>
                  <a:txBody>
                    <a:bodyPr/>
                    <a:lstStyle/>
                    <a:p>
                      <a:pPr/>
                      <a:r>
                        <a:rPr b="1" sz="2300">
                          <a:solidFill>
                            <a:srgbClr val="FFFFFF"/>
                          </a:solidFill>
                        </a:rPr>
                        <a:t>Asistente</a:t>
                      </a:r>
                    </a:p>
                  </a:txBody>
                  <a:tcPr marT="25400" marB="254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300">
                          <a:solidFill>
                            <a:srgbClr val="FFFFFF"/>
                          </a:solidFill>
                        </a:rPr>
                        <a:t>Qué valora</a:t>
                      </a:r>
                    </a:p>
                  </a:txBody>
                  <a:tcPr marT="25400" marB="254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300">
                          <a:solidFill>
                            <a:srgbClr val="FFFFFF"/>
                          </a:solidFill>
                        </a:rPr>
                        <a:t>Escala</a:t>
                      </a:r>
                    </a:p>
                  </a:txBody>
                  <a:tcPr marT="25400" marB="254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300">
                          <a:solidFill>
                            <a:srgbClr val="FFFFFF"/>
                          </a:solidFill>
                        </a:rPr>
                        <a:t>Documento típico</a:t>
                      </a:r>
                    </a:p>
                  </a:txBody>
                  <a:tcPr marT="25400" marB="25400">
                    <a:solidFill>
                      <a:srgbClr val="003E7E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Valoración Preliminar de Calidad</a:t>
                      </a:r>
                    </a:p>
                  </a:txBody>
                  <a:tcPr marT="12700" marB="127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Calidad global del diseño del PRODOC (76 criterios)</a:t>
                      </a:r>
                    </a:p>
                  </a:txBody>
                  <a:tcPr marT="12700" marB="127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Sí / Parcial / No</a:t>
                      </a:r>
                    </a:p>
                  </a:txBody>
                  <a:tcPr marT="12700" marB="127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PRODOC / documento de diseño</a:t>
                      </a:r>
                    </a:p>
                  </a:txBody>
                  <a:tcPr marT="12700" marB="12700">
                    <a:solidFill>
                      <a:srgbClr val="F0F4F8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Atributos Específicos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Género, métodos participativos o Transición Justa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1 a 5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PRODOC o documento de proyecto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Sostenibilidad</a:t>
                      </a:r>
                    </a:p>
                  </a:txBody>
                  <a:tcPr marT="12700" marB="127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Sostenibilidad del proyecto en 3 dimensiones</a:t>
                      </a:r>
                    </a:p>
                  </a:txBody>
                  <a:tcPr marT="12700" marB="127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0 a 3</a:t>
                      </a:r>
                    </a:p>
                  </a:txBody>
                  <a:tcPr marT="12700" marB="127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PRODOC, informe de avance o de evaluación</a:t>
                      </a:r>
                    </a:p>
                  </a:txBody>
                  <a:tcPr marT="12700" marB="1270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21208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40"/>
              </a:spcAft>
            </a:pPr>
            <a:r>
              <a:rPr sz="2000">
                <a:solidFill>
                  <a:srgbClr val="D6001C"/>
                </a:solidFill>
              </a:rPr>
              <a:t>▪  </a:t>
            </a:r>
            <a:r>
              <a:rPr sz="2000" b="0">
                <a:solidFill>
                  <a:srgbClr val="4A4A4A"/>
                </a:solidFill>
              </a:rPr>
              <a:t>Los tres comparten la </a:t>
            </a:r>
            <a:r>
              <a:rPr sz="2000" b="1">
                <a:solidFill>
                  <a:srgbClr val="003E7E"/>
                </a:solidFill>
              </a:rPr>
              <a:t>misma mecánica</a:t>
            </a:r>
            <a:r>
              <a:rPr sz="2000" b="0">
                <a:solidFill>
                  <a:srgbClr val="4A4A4A"/>
                </a:solidFill>
              </a:rPr>
              <a:t>: subir documento → esperar → descargar Excel.</a:t>
            </a:r>
          </a:p>
          <a:p>
            <a:pPr>
              <a:spcAft>
                <a:spcPts val="1040"/>
              </a:spcAft>
            </a:pPr>
            <a:r>
              <a:rPr sz="2000">
                <a:solidFill>
                  <a:srgbClr val="D6001C"/>
                </a:solidFill>
              </a:rPr>
              <a:t>▪  </a:t>
            </a:r>
            <a:r>
              <a:rPr sz="2000" b="0">
                <a:solidFill>
                  <a:srgbClr val="4A4A4A"/>
                </a:solidFill>
              </a:rPr>
              <a:t>Elija el asistente según </a:t>
            </a:r>
            <a:r>
              <a:rPr sz="2000" b="1">
                <a:solidFill>
                  <a:srgbClr val="003E7E"/>
                </a:solidFill>
              </a:rPr>
              <a:t>la pregunta que quiere responder</a:t>
            </a:r>
            <a:r>
              <a:rPr sz="2000" b="0">
                <a:solidFill>
                  <a:srgbClr val="4A4A4A"/>
                </a:solidFill>
              </a:rPr>
              <a:t>, no según el tipo de archivo.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3900" b="1">
                <a:solidFill>
                  <a:srgbClr val="FFFFFF"/>
                </a:solidFill>
              </a:rPr>
              <a:t>Rúbrica 1 · Valoración Preliminar de Calidad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1600" b="1">
                <a:solidFill>
                  <a:srgbClr val="003E7E"/>
                </a:solidFill>
              </a:rPr>
              <a:t>76 criterios · 22 subsecciones</a:t>
            </a:r>
            <a:r>
              <a:rPr sz="1600" b="0">
                <a:solidFill>
                  <a:srgbClr val="4A4A4A"/>
                </a:solidFill>
              </a:rPr>
              <a:t> en cinco secciones: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566928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944880"/>
                <a:gridCol w="944880"/>
              </a:tblGrid>
              <a:tr h="60960">
                <a:tc>
                  <a:txBody>
                    <a:bodyPr/>
                    <a:lstStyle/>
                    <a:p>
                      <a:pPr/>
                      <a:r>
                        <a:rPr b="1" sz="3300">
                          <a:solidFill>
                            <a:srgbClr val="FFFFFF"/>
                          </a:solidFill>
                        </a:rPr>
                        <a:t>Sección</a:t>
                      </a:r>
                    </a:p>
                  </a:txBody>
                  <a:tcPr marT="25400" marB="254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3300">
                          <a:solidFill>
                            <a:srgbClr val="FFFFFF"/>
                          </a:solidFill>
                        </a:rPr>
                        <a:t>Crit.</a:t>
                      </a:r>
                    </a:p>
                  </a:txBody>
                  <a:tcPr marT="25400" marB="254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3300">
                          <a:solidFill>
                            <a:srgbClr val="FFFFFF"/>
                          </a:solidFill>
                        </a:rPr>
                        <a:t>Subs.</a:t>
                      </a:r>
                    </a:p>
                  </a:txBody>
                  <a:tcPr marT="25400" marB="25400">
                    <a:solidFill>
                      <a:srgbClr val="003E7E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/>
                      <a:r>
                        <a:rPr sz="3300">
                          <a:solidFill>
                            <a:srgbClr val="4A4A4A"/>
                          </a:solidFill>
                        </a:rPr>
                        <a:t>1. Pertinencia</a:t>
                      </a:r>
                    </a:p>
                  </a:txBody>
                  <a:tcPr marT="12700" marB="127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300">
                          <a:solidFill>
                            <a:srgbClr val="4A4A4A"/>
                          </a:solidFill>
                        </a:rPr>
                        <a:t>20</a:t>
                      </a:r>
                    </a:p>
                  </a:txBody>
                  <a:tcPr marT="12700" marB="127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300">
                          <a:solidFill>
                            <a:srgbClr val="4A4A4A"/>
                          </a:solidFill>
                        </a:rPr>
                        <a:t>5</a:t>
                      </a:r>
                    </a:p>
                  </a:txBody>
                  <a:tcPr marT="12700" marB="12700">
                    <a:solidFill>
                      <a:srgbClr val="F0F4F8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/>
                      <a:r>
                        <a:rPr sz="3300">
                          <a:solidFill>
                            <a:srgbClr val="4A4A4A"/>
                          </a:solidFill>
                        </a:rPr>
                        <a:t>2. Validez del diseño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300">
                          <a:solidFill>
                            <a:srgbClr val="4A4A4A"/>
                          </a:solidFill>
                        </a:rPr>
                        <a:t>13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300">
                          <a:solidFill>
                            <a:srgbClr val="4A4A4A"/>
                          </a:solidFill>
                        </a:rPr>
                        <a:t>4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/>
                      <a:r>
                        <a:rPr sz="3300">
                          <a:solidFill>
                            <a:srgbClr val="4A4A4A"/>
                          </a:solidFill>
                        </a:rPr>
                        <a:t>3. Marco de resultados / R&amp;M</a:t>
                      </a:r>
                    </a:p>
                  </a:txBody>
                  <a:tcPr marT="12700" marB="127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300">
                          <a:solidFill>
                            <a:srgbClr val="4A4A4A"/>
                          </a:solidFill>
                        </a:rPr>
                        <a:t>27</a:t>
                      </a:r>
                    </a:p>
                  </a:txBody>
                  <a:tcPr marT="12700" marB="127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300">
                          <a:solidFill>
                            <a:srgbClr val="4A4A4A"/>
                          </a:solidFill>
                        </a:rPr>
                        <a:t>7</a:t>
                      </a:r>
                    </a:p>
                  </a:txBody>
                  <a:tcPr marT="12700" marB="12700">
                    <a:solidFill>
                      <a:srgbClr val="F0F4F8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/>
                      <a:r>
                        <a:rPr sz="3300">
                          <a:solidFill>
                            <a:srgbClr val="4A4A4A"/>
                          </a:solidFill>
                        </a:rPr>
                        <a:t>4. Implementación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300">
                          <a:solidFill>
                            <a:srgbClr val="4A4A4A"/>
                          </a:solidFill>
                        </a:rPr>
                        <a:t>14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300">
                          <a:solidFill>
                            <a:srgbClr val="4A4A4A"/>
                          </a:solidFill>
                        </a:rPr>
                        <a:t>4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/>
                      <a:r>
                        <a:rPr sz="3300">
                          <a:solidFill>
                            <a:srgbClr val="4A4A4A"/>
                          </a:solidFill>
                        </a:rPr>
                        <a:t>5. Presentación</a:t>
                      </a:r>
                    </a:p>
                  </a:txBody>
                  <a:tcPr marT="12700" marB="127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300">
                          <a:solidFill>
                            <a:srgbClr val="4A4A4A"/>
                          </a:solidFill>
                        </a:rPr>
                        <a:t>2</a:t>
                      </a:r>
                    </a:p>
                  </a:txBody>
                  <a:tcPr marT="12700" marB="127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300">
                          <a:solidFill>
                            <a:srgbClr val="4A4A4A"/>
                          </a:solidFill>
                        </a:rPr>
                        <a:t>2</a:t>
                      </a:r>
                    </a:p>
                  </a:txBody>
                  <a:tcPr marT="12700" marB="1270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188720"/>
            <a:ext cx="54864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69"/>
              </a:spcAft>
            </a:pPr>
            <a:r>
              <a:rPr sz="2300" b="1">
                <a:solidFill>
                  <a:srgbClr val="003E7E"/>
                </a:solidFill>
              </a:rPr>
              <a:t>Cómo se valora cada criterio</a:t>
            </a:r>
          </a:p>
          <a:p>
            <a:pPr lvl="1">
              <a:spcAft>
                <a:spcPts val="869"/>
              </a:spcAft>
            </a:pPr>
            <a:r>
              <a:rPr sz="2300" b="1">
                <a:solidFill>
                  <a:srgbClr val="003E7E"/>
                </a:solidFill>
              </a:rPr>
              <a:t>Sí</a:t>
            </a:r>
            <a:r>
              <a:rPr sz="2300" b="0">
                <a:solidFill>
                  <a:srgbClr val="4A4A4A"/>
                </a:solidFill>
              </a:rPr>
              <a:t> — el diseño cumple el criterio.</a:t>
            </a:r>
          </a:p>
          <a:p>
            <a:pPr lvl="1">
              <a:spcAft>
                <a:spcPts val="869"/>
              </a:spcAft>
            </a:pPr>
            <a:r>
              <a:rPr sz="2300" b="0">
                <a:solidFill>
                  <a:srgbClr val="4A4A4A"/>
                </a:solidFill>
              </a:rPr>
              <a:t>Parcial — cumple de forma incompleta.</a:t>
            </a:r>
          </a:p>
          <a:p>
            <a:pPr lvl="1">
              <a:spcAft>
                <a:spcPts val="869"/>
              </a:spcAft>
            </a:pPr>
            <a:r>
              <a:rPr sz="2300" b="1">
                <a:solidFill>
                  <a:srgbClr val="D6001C"/>
                </a:solidFill>
              </a:rPr>
              <a:t>No</a:t>
            </a:r>
            <a:r>
              <a:rPr sz="2300" b="0">
                <a:solidFill>
                  <a:srgbClr val="4A4A4A"/>
                </a:solidFill>
              </a:rPr>
              <a:t> — no cumple / ausente.</a:t>
            </a:r>
          </a:p>
          <a:p>
            <a:pPr lvl="1">
              <a:spcAft>
                <a:spcPts val="869"/>
              </a:spcAft>
            </a:pPr>
            <a:r>
              <a:rPr sz="2300" b="0" i="1">
                <a:solidFill>
                  <a:srgbClr val="4A4A4A"/>
                </a:solidFill>
              </a:rPr>
              <a:t>N/A</a:t>
            </a:r>
            <a:r>
              <a:rPr sz="2300" b="0">
                <a:solidFill>
                  <a:srgbClr val="4A4A4A"/>
                </a:solidFill>
              </a:rPr>
              <a:t> — no aplica al tipo de proyecto.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4206240"/>
            <a:ext cx="5303520" cy="5029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l"/>
            <a:r>
              <a:rPr sz="1400" b="0">
                <a:solidFill>
                  <a:srgbClr val="4A4A4A"/>
                </a:solidFill>
              </a:rPr>
              <a:t>Cada criterio trae una </a:t>
            </a:r>
            <a:r>
              <a:rPr sz="1400" b="1">
                <a:solidFill>
                  <a:srgbClr val="003E7E"/>
                </a:solidFill>
              </a:rPr>
              <a:t>pregunta orientadora</a:t>
            </a:r>
            <a:r>
              <a:rPr sz="1400" b="0">
                <a:solidFill>
                  <a:srgbClr val="4A4A4A"/>
                </a:solidFill>
              </a:rPr>
              <a:t> de contexto (no se puntúa) y una lista de elementos a verificar.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800" b="1">
                <a:solidFill>
                  <a:srgbClr val="FFFFFF"/>
                </a:solidFill>
              </a:rPr>
              <a:t>Rúbrica 2 · Atributos Específicos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2200" b="0">
                <a:solidFill>
                  <a:srgbClr val="4A4A4A"/>
                </a:solidFill>
              </a:rPr>
              <a:t>Un mismo asistente, </a:t>
            </a:r>
            <a:r>
              <a:rPr sz="2200" b="1">
                <a:solidFill>
                  <a:srgbClr val="003E7E"/>
                </a:solidFill>
              </a:rPr>
              <a:t>tres rúbricas seleccionables</a:t>
            </a:r>
            <a:r>
              <a:rPr sz="2200" b="0">
                <a:solidFill>
                  <a:srgbClr val="4A4A4A"/>
                </a:solidFill>
              </a:rPr>
              <a:t>. Usted elige cuál aplicar: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1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7434"/>
                <a:gridCol w="5476858"/>
                <a:gridCol w="2542827"/>
              </a:tblGrid>
              <a:tr h="91440">
                <a:tc>
                  <a:txBody>
                    <a:bodyPr/>
                    <a:lstStyle/>
                    <a:p>
                      <a:pPr/>
                      <a:r>
                        <a:rPr b="1" sz="2300">
                          <a:solidFill>
                            <a:srgbClr val="FFFFFF"/>
                          </a:solidFill>
                        </a:rPr>
                        <a:t>Rúbrica</a:t>
                      </a:r>
                    </a:p>
                  </a:txBody>
                  <a:tcPr marT="25400" marB="254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300">
                          <a:solidFill>
                            <a:srgbClr val="FFFFFF"/>
                          </a:solidFill>
                        </a:rPr>
                        <a:t>Qué examina</a:t>
                      </a:r>
                    </a:p>
                  </a:txBody>
                  <a:tcPr marT="25400" marB="254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300">
                          <a:solidFill>
                            <a:srgbClr val="FFFFFF"/>
                          </a:solidFill>
                        </a:rPr>
                        <a:t>Tamaño</a:t>
                      </a:r>
                    </a:p>
                  </a:txBody>
                  <a:tcPr marT="25400" marB="25400">
                    <a:solidFill>
                      <a:srgbClr val="003E7E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Metodologías participativas</a:t>
                      </a:r>
                    </a:p>
                  </a:txBody>
                  <a:tcPr marT="12700" marB="127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Uso de enfoques participativos en el diseño y la gestión del proyecto.</a:t>
                      </a:r>
                    </a:p>
                  </a:txBody>
                  <a:tcPr marT="12700" marB="127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1 criterio · 5 indicadores</a:t>
                      </a:r>
                    </a:p>
                  </a:txBody>
                  <a:tcPr marT="12700" marB="12700">
                    <a:solidFill>
                      <a:srgbClr val="F0F4F8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Integración de género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Cómo el proyecto incorpora el enfoque de género de forma transversal.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21 criterios · 21 indicadores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Transición Justa</a:t>
                      </a:r>
                    </a:p>
                  </a:txBody>
                  <a:tcPr marT="12700" marB="127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Alineación con el enfoque moderno de Transición Justa.</a:t>
                      </a:r>
                    </a:p>
                  </a:txBody>
                  <a:tcPr marT="12700" marB="127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5 criterios · 48 indicadores</a:t>
                      </a:r>
                    </a:p>
                  </a:txBody>
                  <a:tcPr marT="12700" marB="1270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21208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60"/>
              </a:spcAft>
            </a:pPr>
            <a:r>
              <a:rPr sz="2600">
                <a:solidFill>
                  <a:srgbClr val="D6001C"/>
                </a:solidFill>
              </a:rPr>
              <a:t>▪  </a:t>
            </a:r>
            <a:r>
              <a:rPr sz="2600" b="0">
                <a:solidFill>
                  <a:srgbClr val="4A4A4A"/>
                </a:solidFill>
              </a:rPr>
              <a:t>Escala de </a:t>
            </a:r>
            <a:r>
              <a:rPr sz="2600" b="1">
                <a:solidFill>
                  <a:srgbClr val="003E7E"/>
                </a:solidFill>
              </a:rPr>
              <a:t>1 a 5</a:t>
            </a:r>
            <a:r>
              <a:rPr sz="2600" b="0">
                <a:solidFill>
                  <a:srgbClr val="4A4A4A"/>
                </a:solidFill>
              </a:rPr>
              <a:t> por indicador, con análisis y evidencia citada.</a:t>
            </a:r>
          </a:p>
          <a:p>
            <a:pPr>
              <a:spcAft>
                <a:spcPts val="1360"/>
              </a:spcAft>
            </a:pPr>
            <a:r>
              <a:rPr sz="2600">
                <a:solidFill>
                  <a:srgbClr val="D6001C"/>
                </a:solidFill>
              </a:rPr>
              <a:t>▪  </a:t>
            </a:r>
            <a:r>
              <a:rPr sz="2600" b="0">
                <a:solidFill>
                  <a:srgbClr val="4A4A4A"/>
                </a:solidFill>
              </a:rPr>
              <a:t>Cada indicador se evalúa </a:t>
            </a:r>
            <a:r>
              <a:rPr sz="2600" b="1">
                <a:solidFill>
                  <a:srgbClr val="D6001C"/>
                </a:solidFill>
              </a:rPr>
              <a:t>cinco veces</a:t>
            </a:r>
            <a:r>
              <a:rPr sz="2600" b="0">
                <a:solidFill>
                  <a:srgbClr val="4A4A4A"/>
                </a:solidFill>
              </a:rPr>
              <a:t> y se consolida, para una puntuación más estable.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800" b="1">
                <a:solidFill>
                  <a:srgbClr val="FFFFFF"/>
                </a:solidFill>
              </a:rPr>
              <a:t>Rúbrica 3 · Sostenibilidad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669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1900" b="1">
                <a:solidFill>
                  <a:srgbClr val="003E7E"/>
                </a:solidFill>
              </a:rPr>
              <a:t>6 criterios transversales · 28 indicadores</a:t>
            </a:r>
            <a:r>
              <a:rPr sz="1900" b="0">
                <a:solidFill>
                  <a:srgbClr val="4A4A4A"/>
                </a:solidFill>
              </a:rPr>
              <a:t>, en tres dimensiones: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37360"/>
          <a:ext cx="54864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</a:tblGrid>
              <a:tr h="91440">
                <a:tc>
                  <a:txBody>
                    <a:bodyPr/>
                    <a:lstStyle/>
                    <a:p>
                      <a:pPr/>
                      <a:r>
                        <a:rPr b="1" sz="2300">
                          <a:solidFill>
                            <a:srgbClr val="FFFFFF"/>
                          </a:solidFill>
                        </a:rPr>
                        <a:t>Dimensión</a:t>
                      </a:r>
                    </a:p>
                  </a:txBody>
                  <a:tcPr marT="25400" marB="254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300">
                          <a:solidFill>
                            <a:srgbClr val="FFFFFF"/>
                          </a:solidFill>
                        </a:rPr>
                        <a:t>Indicadores</a:t>
                      </a:r>
                    </a:p>
                  </a:txBody>
                  <a:tcPr marT="25400" marB="25400">
                    <a:solidFill>
                      <a:srgbClr val="003E7E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Diseño</a:t>
                      </a:r>
                    </a:p>
                  </a:txBody>
                  <a:tcPr marT="12700" marB="127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6</a:t>
                      </a:r>
                    </a:p>
                  </a:txBody>
                  <a:tcPr marT="12700" marB="12700">
                    <a:solidFill>
                      <a:srgbClr val="F0F4F8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Implementación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10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Pre-Cierre</a:t>
                      </a:r>
                    </a:p>
                  </a:txBody>
                  <a:tcPr marT="12700" marB="127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12</a:t>
                      </a:r>
                    </a:p>
                  </a:txBody>
                  <a:tcPr marT="12700" marB="1270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3840480"/>
            <a:ext cx="5486400" cy="5029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l"/>
            <a:r>
              <a:rPr sz="1400" b="0">
                <a:solidFill>
                  <a:srgbClr val="4A4A4A"/>
                </a:solidFill>
              </a:rPr>
              <a:t>Criterios: participación y riesgos, sostenibilidad política, de género, institucional, financiera y transición justa.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4864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2400" b="1">
                <a:solidFill>
                  <a:srgbClr val="003E7E"/>
                </a:solidFill>
              </a:rPr>
              <a:t>Escala de 0 a 3</a:t>
            </a:r>
            <a:r>
              <a:rPr sz="2400" b="0">
                <a:solidFill>
                  <a:srgbClr val="4A4A4A"/>
                </a:solidFill>
              </a:rPr>
              <a:t> por indicador:</a:t>
            </a:r>
          </a:p>
          <a:p>
            <a:pPr lvl="1">
              <a:spcAft>
                <a:spcPts val="900"/>
              </a:spcAft>
            </a:pPr>
            <a:r>
              <a:rPr sz="2400" b="1">
                <a:solidFill>
                  <a:srgbClr val="D6001C"/>
                </a:solidFill>
              </a:rPr>
              <a:t>Nivel 0</a:t>
            </a:r>
            <a:r>
              <a:rPr sz="2400" b="0">
                <a:solidFill>
                  <a:srgbClr val="4A4A4A"/>
                </a:solidFill>
              </a:rPr>
              <a:t> — ausente / no abordado.</a:t>
            </a:r>
          </a:p>
          <a:p>
            <a:pPr lvl="1">
              <a:spcAft>
                <a:spcPts val="900"/>
              </a:spcAft>
            </a:pPr>
            <a:r>
              <a:rPr sz="2400" b="0">
                <a:solidFill>
                  <a:srgbClr val="4A4A4A"/>
                </a:solidFill>
              </a:rPr>
              <a:t>Nivel 1 — incipiente.</a:t>
            </a:r>
          </a:p>
          <a:p>
            <a:pPr lvl="1">
              <a:spcAft>
                <a:spcPts val="900"/>
              </a:spcAft>
            </a:pPr>
            <a:r>
              <a:rPr sz="2400" b="0">
                <a:solidFill>
                  <a:srgbClr val="4A4A4A"/>
                </a:solidFill>
              </a:rPr>
              <a:t>Nivel 2 — parcial / en desarrollo.</a:t>
            </a:r>
          </a:p>
          <a:p>
            <a:pPr lvl="1">
              <a:spcAft>
                <a:spcPts val="900"/>
              </a:spcAft>
            </a:pPr>
            <a:r>
              <a:rPr sz="2400" b="1">
                <a:solidFill>
                  <a:srgbClr val="003E7E"/>
                </a:solidFill>
              </a:rPr>
              <a:t>Nivel 3</a:t>
            </a:r>
            <a:r>
              <a:rPr sz="2400" b="0">
                <a:solidFill>
                  <a:srgbClr val="4A4A4A"/>
                </a:solidFill>
              </a:rPr>
              <a:t> — sólido / plenamente abordado.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4297680"/>
            <a:ext cx="5303520" cy="5029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l"/>
            <a:r>
              <a:rPr sz="1400" b="0" i="1">
                <a:solidFill>
                  <a:srgbClr val="4A4A4A"/>
                </a:solidFill>
              </a:rPr>
              <a:t>Ojo: </a:t>
            </a:r>
            <a:r>
              <a:rPr sz="1400" b="0">
                <a:solidFill>
                  <a:srgbClr val="4A4A4A"/>
                </a:solidFill>
              </a:rPr>
              <a:t>usa escala </a:t>
            </a:r>
            <a:r>
              <a:rPr sz="1400" b="1">
                <a:solidFill>
                  <a:srgbClr val="D6001C"/>
                </a:solidFill>
              </a:rPr>
              <a:t>0–3</a:t>
            </a:r>
            <a:r>
              <a:rPr sz="1400" b="0">
                <a:solidFill>
                  <a:srgbClr val="4A4A4A"/>
                </a:solidFill>
              </a:rPr>
              <a:t>, distinta de las otras dos rúbricas.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800" b="1">
                <a:solidFill>
                  <a:srgbClr val="FFFFFF"/>
                </a:solidFill>
              </a:rPr>
              <a:t>Cómo realiza la evaluación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71600"/>
            <a:ext cx="2103120" cy="1280160"/>
          </a:xfrm>
          <a:prstGeom prst="roundRect">
            <a:avLst/>
          </a:prstGeom>
          <a:solidFill>
            <a:srgbClr val="E0ECF6"/>
          </a:solidFill>
          <a:ln w="19050">
            <a:solidFill>
              <a:srgbClr val="003E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700">
                <a:solidFill>
                  <a:srgbClr val="4A4A4A"/>
                </a:solidFill>
              </a:rPr>
              <a:t>Usted sube el documento (.docx)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14600" y="1828800"/>
            <a:ext cx="137160" cy="365760"/>
          </a:xfrm>
          <a:prstGeom prst="rightArrow">
            <a:avLst/>
          </a:prstGeom>
          <a:solidFill>
            <a:srgbClr val="D60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51760" y="1371600"/>
            <a:ext cx="2103120" cy="1280160"/>
          </a:xfrm>
          <a:prstGeom prst="roundRect">
            <a:avLst/>
          </a:prstGeom>
          <a:solidFill>
            <a:srgbClr val="E0ECF6"/>
          </a:solidFill>
          <a:ln w="19050">
            <a:solidFill>
              <a:srgbClr val="003E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700">
                <a:solidFill>
                  <a:srgbClr val="4A4A4A"/>
                </a:solidFill>
              </a:rPr>
              <a:t>El sistema extrae el texto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54880" y="1828800"/>
            <a:ext cx="137160" cy="365760"/>
          </a:xfrm>
          <a:prstGeom prst="rightArrow">
            <a:avLst/>
          </a:prstGeom>
          <a:solidFill>
            <a:srgbClr val="D60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892040" y="1371600"/>
            <a:ext cx="2103120" cy="1280160"/>
          </a:xfrm>
          <a:prstGeom prst="roundRect">
            <a:avLst/>
          </a:prstGeom>
          <a:solidFill>
            <a:srgbClr val="E0ECF6"/>
          </a:solidFill>
          <a:ln w="19050">
            <a:solidFill>
              <a:srgbClr val="003E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700">
                <a:solidFill>
                  <a:srgbClr val="4A4A4A"/>
                </a:solidFill>
              </a:rPr>
              <a:t>Evalúa cada criterio por separado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95160" y="1828800"/>
            <a:ext cx="137160" cy="365760"/>
          </a:xfrm>
          <a:prstGeom prst="rightArrow">
            <a:avLst/>
          </a:prstGeom>
          <a:solidFill>
            <a:srgbClr val="D60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0" y="1371600"/>
            <a:ext cx="2103120" cy="1280160"/>
          </a:xfrm>
          <a:prstGeom prst="roundRect">
            <a:avLst/>
          </a:prstGeom>
          <a:solidFill>
            <a:srgbClr val="E0ECF6"/>
          </a:solidFill>
          <a:ln w="19050">
            <a:solidFill>
              <a:srgbClr val="003E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300">
                <a:solidFill>
                  <a:srgbClr val="4A4A4A"/>
                </a:solidFill>
              </a:rPr>
              <a:t>Consolida veredicto + evidencia citada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235440" y="1828800"/>
            <a:ext cx="137160" cy="365760"/>
          </a:xfrm>
          <a:prstGeom prst="rightArrow">
            <a:avLst/>
          </a:prstGeom>
          <a:solidFill>
            <a:srgbClr val="D60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72600" y="1371600"/>
            <a:ext cx="2103120" cy="1280160"/>
          </a:xfrm>
          <a:prstGeom prst="roundRect">
            <a:avLst/>
          </a:prstGeom>
          <a:solidFill>
            <a:srgbClr val="E0ECF6"/>
          </a:solidFill>
          <a:ln w="19050">
            <a:solidFill>
              <a:srgbClr val="003E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700">
                <a:solidFill>
                  <a:srgbClr val="4A4A4A"/>
                </a:solidFill>
              </a:rPr>
              <a:t>Genera el Excel y lo entrega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00400"/>
            <a:ext cx="10972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20"/>
              </a:spcAft>
            </a:pPr>
            <a:r>
              <a:rPr sz="2500">
                <a:solidFill>
                  <a:srgbClr val="D6001C"/>
                </a:solidFill>
              </a:rPr>
              <a:t>▪  </a:t>
            </a:r>
            <a:r>
              <a:rPr sz="2500" b="0">
                <a:solidFill>
                  <a:srgbClr val="4A4A4A"/>
                </a:solidFill>
              </a:rPr>
              <a:t>Cada criterio se compara </a:t>
            </a:r>
            <a:r>
              <a:rPr sz="2500" b="1">
                <a:solidFill>
                  <a:srgbClr val="003E7E"/>
                </a:solidFill>
              </a:rPr>
              <a:t>solo contra la rúbrica</a:t>
            </a:r>
            <a:r>
              <a:rPr sz="2500" b="0">
                <a:solidFill>
                  <a:srgbClr val="4A4A4A"/>
                </a:solidFill>
              </a:rPr>
              <a:t>, no contra otros proyectos.</a:t>
            </a:r>
          </a:p>
          <a:p>
            <a:pPr>
              <a:spcAft>
                <a:spcPts val="1320"/>
              </a:spcAft>
            </a:pPr>
            <a:r>
              <a:rPr sz="2500">
                <a:solidFill>
                  <a:srgbClr val="D6001C"/>
                </a:solidFill>
              </a:rPr>
              <a:t>▪  </a:t>
            </a:r>
            <a:r>
              <a:rPr sz="2500" b="0">
                <a:solidFill>
                  <a:srgbClr val="4A4A4A"/>
                </a:solidFill>
              </a:rPr>
              <a:t>La </a:t>
            </a:r>
            <a:r>
              <a:rPr sz="2500" b="1">
                <a:solidFill>
                  <a:srgbClr val="D6001C"/>
                </a:solidFill>
              </a:rPr>
              <a:t>evidencia</a:t>
            </a:r>
            <a:r>
              <a:rPr sz="2500" b="0">
                <a:solidFill>
                  <a:srgbClr val="4A4A4A"/>
                </a:solidFill>
              </a:rPr>
              <a:t> se toma de citas textuales del documento.</a:t>
            </a:r>
          </a:p>
          <a:p>
            <a:pPr>
              <a:spcAft>
                <a:spcPts val="1320"/>
              </a:spcAft>
            </a:pPr>
            <a:r>
              <a:rPr sz="2500">
                <a:solidFill>
                  <a:srgbClr val="D6001C"/>
                </a:solidFill>
              </a:rPr>
              <a:t>▪  </a:t>
            </a:r>
            <a:r>
              <a:rPr sz="2500" b="0">
                <a:solidFill>
                  <a:srgbClr val="4A4A4A"/>
                </a:solidFill>
              </a:rPr>
              <a:t>En criterios más subjetivos el sistema </a:t>
            </a:r>
            <a:r>
              <a:rPr sz="2500" b="1">
                <a:solidFill>
                  <a:srgbClr val="003E7E"/>
                </a:solidFill>
              </a:rPr>
              <a:t>razona con más profundidad</a:t>
            </a:r>
            <a:r>
              <a:rPr sz="2500" b="0">
                <a:solidFill>
                  <a:srgbClr val="4A4A4A"/>
                </a:solidFill>
              </a:rPr>
              <a:t>.</a:t>
            </a:r>
          </a:p>
          <a:p>
            <a:pPr>
              <a:spcAft>
                <a:spcPts val="1320"/>
              </a:spcAft>
            </a:pPr>
            <a:r>
              <a:rPr sz="2500">
                <a:solidFill>
                  <a:srgbClr val="D6001C"/>
                </a:solidFill>
              </a:rPr>
              <a:t>▪  </a:t>
            </a:r>
            <a:r>
              <a:rPr sz="2500" b="0">
                <a:solidFill>
                  <a:srgbClr val="4A4A4A"/>
                </a:solidFill>
              </a:rPr>
              <a:t>El proceso tarda </a:t>
            </a:r>
            <a:r>
              <a:rPr sz="2500" b="0">
                <a:solidFill>
                  <a:srgbClr val="4A4A4A"/>
                </a:solidFill>
              </a:rPr>
              <a:t>unos minutos</a:t>
            </a:r>
            <a:r>
              <a:rPr sz="2500" b="0">
                <a:solidFill>
                  <a:srgbClr val="4A4A4A"/>
                </a:solidFill>
              </a:rPr>
              <a:t> según el tamaño del documento.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800" b="1">
                <a:solidFill>
                  <a:srgbClr val="FFFFFF"/>
                </a:solidFill>
              </a:rPr>
              <a:t>Cómo se evalúa cada criterio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1900" b="0">
                <a:solidFill>
                  <a:srgbClr val="4A4A4A"/>
                </a:solidFill>
              </a:rPr>
              <a:t>Cada criterio no es una pregunta abierta: la rúbrica lo descompone en </a:t>
            </a:r>
            <a:r>
              <a:rPr sz="1900" b="1">
                <a:solidFill>
                  <a:srgbClr val="003E7E"/>
                </a:solidFill>
              </a:rPr>
              <a:t>tests atómicos</a:t>
            </a:r>
            <a:r>
              <a:rPr sz="1900" b="0">
                <a:solidFill>
                  <a:srgbClr val="4A4A4A"/>
                </a:solidFill>
              </a:rPr>
              <a:t> (T1, T2, T3…) y una </a:t>
            </a:r>
            <a:r>
              <a:rPr sz="1900" b="1">
                <a:solidFill>
                  <a:srgbClr val="003E7E"/>
                </a:solidFill>
              </a:rPr>
              <a:t>regla lógica</a:t>
            </a:r>
            <a:r>
              <a:rPr sz="1900" b="0">
                <a:solidFill>
                  <a:srgbClr val="4A4A4A"/>
                </a:solidFill>
              </a:rPr>
              <a:t> de decisión. El asistente evalúa cada test verdadero/falso y aplica la regla.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1247120" cy="5029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l"/>
            <a:r>
              <a:rPr sz="1400" b="0">
                <a:solidFill>
                  <a:srgbClr val="4A4A4A"/>
                </a:solidFill>
              </a:rPr>
              <a:t>Ejemplo: T1 = ¿existe marco de resultados?  ·  T2 = ¿indicadores SMART?  ·  T3 = ¿faltan metas?      </a:t>
            </a:r>
            <a:r>
              <a:rPr sz="1400" b="1">
                <a:solidFill>
                  <a:srgbClr val="003E7E"/>
                </a:solidFill>
              </a:rPr>
              <a:t>Sí</a:t>
            </a:r>
            <a:r>
              <a:rPr sz="1400" b="0">
                <a:solidFill>
                  <a:srgbClr val="4A4A4A"/>
                </a:solidFill>
              </a:rPr>
              <a:t> = T1 ∧ T2 ∧ ¬T3    ·    </a:t>
            </a:r>
            <a:r>
              <a:rPr sz="1400" b="1">
                <a:solidFill>
                  <a:srgbClr val="D6001C"/>
                </a:solidFill>
              </a:rPr>
              <a:t>No</a:t>
            </a:r>
            <a:r>
              <a:rPr sz="1400" b="0">
                <a:solidFill>
                  <a:srgbClr val="4A4A4A"/>
                </a:solidFill>
              </a:rPr>
              <a:t> = si no se cumple.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2000" b="1">
                <a:solidFill>
                  <a:srgbClr val="003E7E"/>
                </a:solidFill>
              </a:rPr>
              <a:t>Tipos de criterio y cómo se resuelve cada uno: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200400"/>
          <a:ext cx="1124711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0064"/>
                <a:gridCol w="8297055"/>
              </a:tblGrid>
              <a:tr h="73152">
                <a:tc>
                  <a:txBody>
                    <a:bodyPr/>
                    <a:lstStyle/>
                    <a:p>
                      <a:pPr/>
                      <a:r>
                        <a:rPr b="1" sz="2200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 marT="25400" marB="254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200">
                          <a:solidFill>
                            <a:srgbClr val="FFFFFF"/>
                          </a:solidFill>
                        </a:rPr>
                        <a:t>Lógica de evaluación</a:t>
                      </a:r>
                    </a:p>
                  </a:txBody>
                  <a:tcPr marT="25400" marB="25400">
                    <a:solidFill>
                      <a:srgbClr val="003E7E"/>
                    </a:solidFill>
                  </a:tcPr>
                </a:tc>
              </a:tr>
              <a:tr h="73152"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Binario / presencia</a:t>
                      </a:r>
                    </a:p>
                  </a:txBody>
                  <a:tcPr marT="12700" marB="127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Un test: ¿está presente el elemento? (a veces + ¿con calidad suficiente?).</a:t>
                      </a:r>
                    </a:p>
                  </a:txBody>
                  <a:tcPr marT="12700" marB="12700">
                    <a:solidFill>
                      <a:srgbClr val="F0F4F8"/>
                    </a:solidFill>
                  </a:tcPr>
                </a:tc>
              </a:tr>
              <a:tr h="73152"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Lista de verificación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Cuenta cuántos elementos atómicos se cumplen: todos → Sí, algunos → Parcial, ninguno → No.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73152"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Calidad narrativa</a:t>
                      </a:r>
                    </a:p>
                  </a:txBody>
                  <a:tcPr marT="12700" marB="127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Juicio cualitativo contra descriptores definidos en la rúbrica.</a:t>
                      </a:r>
                    </a:p>
                  </a:txBody>
                  <a:tcPr marT="12700" marB="12700">
                    <a:solidFill>
                      <a:srgbClr val="F0F4F8"/>
                    </a:solidFill>
                  </a:tcPr>
                </a:tc>
              </a:tr>
              <a:tr h="73152"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Condicional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Primero verifica si el criterio aplica; si no, resultado = N/A.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600" b="1">
                <a:solidFill>
                  <a:srgbClr val="FFFFFF"/>
                </a:solidFill>
              </a:rPr>
              <a:t>Ejemplos reales de tests de la rúbrica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2200" b="1">
                <a:solidFill>
                  <a:srgbClr val="003E7E"/>
                </a:solidFill>
              </a:rPr>
              <a:t>Ejemplo binario · criterio 1.4.2</a:t>
            </a:r>
          </a:p>
          <a:p>
            <a:pPr/>
            <a:r>
              <a:rPr sz="1700" b="0" i="1">
                <a:solidFill>
                  <a:srgbClr val="4A4A4A"/>
                </a:solidFill>
              </a:rPr>
              <a:t>“Se destaca la presencia de la OIT en el país y la cartera de proyectos pasados y en curso.”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5486400" cy="2103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/>
          <a:lstStyle/>
          <a:p>
            <a:pPr algn="l"/>
            <a:r>
              <a:rPr sz="1800" b="1">
                <a:solidFill>
                  <a:srgbClr val="003E7E"/>
                </a:solidFill>
              </a:rPr>
              <a:t>T1</a:t>
            </a:r>
            <a:r>
              <a:rPr sz="1800" b="0">
                <a:solidFill>
                  <a:srgbClr val="4A4A4A"/>
                </a:solidFill>
              </a:rPr>
              <a:t>: ¿Describe la presencia de la OIT (oficina, equipo)?</a:t>
            </a:r>
          </a:p>
          <a:p>
            <a:pPr algn="l"/>
            <a:r>
              <a:rPr sz="1800" b="1">
                <a:solidFill>
                  <a:srgbClr val="003E7E"/>
                </a:solidFill>
              </a:rPr>
              <a:t>T2</a:t>
            </a:r>
            <a:r>
              <a:rPr sz="1800" b="0">
                <a:solidFill>
                  <a:srgbClr val="4A4A4A"/>
                </a:solidFill>
              </a:rPr>
              <a:t>: ¿Enumera ≥2 proyectos con título o código?</a:t>
            </a:r>
          </a:p>
          <a:p>
            <a:pPr algn="l"/>
            <a:r>
              <a:rPr sz="1800" b="0">
                <a:solidFill>
                  <a:srgbClr val="4A4A4A"/>
                </a:solidFill>
              </a:rPr>
              <a:t> </a:t>
            </a:r>
          </a:p>
          <a:p>
            <a:pPr algn="l"/>
            <a:r>
              <a:rPr sz="1800" b="1">
                <a:solidFill>
                  <a:srgbClr val="003E7E"/>
                </a:solidFill>
              </a:rPr>
              <a:t>Sí</a:t>
            </a:r>
            <a:r>
              <a:rPr sz="1800" b="0">
                <a:solidFill>
                  <a:srgbClr val="4A4A4A"/>
                </a:solidFill>
              </a:rPr>
              <a:t>: T1 ∧ T2</a:t>
            </a:r>
          </a:p>
          <a:p>
            <a:pPr algn="l"/>
            <a:r>
              <a:rPr sz="1800" b="0">
                <a:solidFill>
                  <a:srgbClr val="4A4A4A"/>
                </a:solidFill>
              </a:rPr>
              <a:t>Parcial: T1 ∨ T2 (solo uno)</a:t>
            </a:r>
          </a:p>
          <a:p>
            <a:pPr algn="l"/>
            <a:r>
              <a:rPr sz="1800" b="1">
                <a:solidFill>
                  <a:srgbClr val="D6001C"/>
                </a:solidFill>
              </a:rPr>
              <a:t>No</a:t>
            </a:r>
            <a:r>
              <a:rPr sz="1800" b="0">
                <a:solidFill>
                  <a:srgbClr val="4A4A4A"/>
                </a:solidFill>
              </a:rPr>
              <a:t>: ¬T1 ∧ ¬T2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005840"/>
            <a:ext cx="5486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2100" b="1">
                <a:solidFill>
                  <a:srgbClr val="003E7E"/>
                </a:solidFill>
              </a:rPr>
              <a:t>Ejemplo lista / conteo · criterio 1.2.1</a:t>
            </a:r>
          </a:p>
          <a:p>
            <a:pPr/>
            <a:r>
              <a:rPr sz="1700" b="0" i="1">
                <a:solidFill>
                  <a:srgbClr val="4A4A4A"/>
                </a:solidFill>
              </a:rPr>
              <a:t>“La propuesta explica cómo el proyecto encaja en los marcos de desarrollo del país.”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103120"/>
            <a:ext cx="5486400" cy="23774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/>
          <a:lstStyle/>
          <a:p>
            <a:pPr algn="l"/>
            <a:r>
              <a:rPr sz="1700" b="1">
                <a:solidFill>
                  <a:srgbClr val="003E7E"/>
                </a:solidFill>
              </a:rPr>
              <a:t>T1</a:t>
            </a:r>
            <a:r>
              <a:rPr sz="1700" b="0">
                <a:solidFill>
                  <a:srgbClr val="4A4A4A"/>
                </a:solidFill>
              </a:rPr>
              <a:t>: ¿Nombra el plan nacional de desarrollo por título?</a:t>
            </a:r>
          </a:p>
          <a:p>
            <a:pPr algn="l"/>
            <a:r>
              <a:rPr sz="1700" b="1">
                <a:solidFill>
                  <a:srgbClr val="003E7E"/>
                </a:solidFill>
              </a:rPr>
              <a:t>T2</a:t>
            </a:r>
            <a:r>
              <a:rPr sz="1700" b="0">
                <a:solidFill>
                  <a:srgbClr val="4A4A4A"/>
                </a:solidFill>
              </a:rPr>
              <a:t>: ¿Nombra el UNSDCF / MANUD vigente?</a:t>
            </a:r>
          </a:p>
          <a:p>
            <a:pPr algn="l"/>
            <a:r>
              <a:rPr sz="1700" b="1">
                <a:solidFill>
                  <a:srgbClr val="003E7E"/>
                </a:solidFill>
              </a:rPr>
              <a:t>T3</a:t>
            </a:r>
            <a:r>
              <a:rPr sz="1700" b="0">
                <a:solidFill>
                  <a:srgbClr val="4A4A4A"/>
                </a:solidFill>
              </a:rPr>
              <a:t>: ¿Articula el encaje del proyecto con T1 o T2?</a:t>
            </a:r>
          </a:p>
          <a:p>
            <a:pPr algn="l"/>
            <a:r>
              <a:rPr sz="1700" b="0">
                <a:solidFill>
                  <a:srgbClr val="4A4A4A"/>
                </a:solidFill>
              </a:rPr>
              <a:t> </a:t>
            </a:r>
          </a:p>
          <a:p>
            <a:pPr algn="l"/>
            <a:r>
              <a:rPr sz="1700" b="1">
                <a:solidFill>
                  <a:srgbClr val="003E7E"/>
                </a:solidFill>
              </a:rPr>
              <a:t>Sí</a:t>
            </a:r>
            <a:r>
              <a:rPr sz="1700" b="0">
                <a:solidFill>
                  <a:srgbClr val="4A4A4A"/>
                </a:solidFill>
              </a:rPr>
              <a:t>: (T1 ∨ T2) ∧ T3</a:t>
            </a:r>
          </a:p>
          <a:p>
            <a:pPr algn="l"/>
            <a:r>
              <a:rPr sz="1700" b="0">
                <a:solidFill>
                  <a:srgbClr val="4A4A4A"/>
                </a:solidFill>
              </a:rPr>
              <a:t>Parcial: (T1 ∨ T2) ∧ ¬T3</a:t>
            </a:r>
          </a:p>
          <a:p>
            <a:pPr algn="l"/>
            <a:r>
              <a:rPr sz="1700" b="1">
                <a:solidFill>
                  <a:srgbClr val="D6001C"/>
                </a:solidFill>
              </a:rPr>
              <a:t>No</a:t>
            </a:r>
            <a:r>
              <a:rPr sz="1700" b="0">
                <a:solidFill>
                  <a:srgbClr val="4A4A4A"/>
                </a:solidFill>
              </a:rPr>
              <a:t>: ¬T1 ∧ ¬T2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754880"/>
            <a:ext cx="11247120" cy="5029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600" b="0">
                <a:solidFill>
                  <a:srgbClr val="4A4A4A"/>
                </a:solidFill>
              </a:rPr>
              <a:t>Los tests (T1, T2…) y las reglas de decisión están </a:t>
            </a:r>
            <a:r>
              <a:rPr sz="1600" b="1">
                <a:solidFill>
                  <a:srgbClr val="003E7E"/>
                </a:solidFill>
              </a:rPr>
              <a:t>predefinidos en la rúbrica</a:t>
            </a:r>
            <a:r>
              <a:rPr sz="1600" b="0">
                <a:solidFill>
                  <a:srgbClr val="4A4A4A"/>
                </a:solidFill>
              </a:rPr>
              <a:t>, no los improvisa el modelo.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800" b="1">
                <a:solidFill>
                  <a:srgbClr val="FFFFFF"/>
                </a:solidFill>
              </a:rPr>
              <a:t>Cómo localiza y valora la evidencia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486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79"/>
              </a:spcAft>
            </a:pPr>
            <a:r>
              <a:rPr sz="2100" b="1">
                <a:solidFill>
                  <a:srgbClr val="003E7E"/>
                </a:solidFill>
              </a:rPr>
              <a:t>Cómo se localiza</a:t>
            </a:r>
          </a:p>
          <a:p>
            <a:pPr lvl="1">
              <a:spcAft>
                <a:spcPts val="979"/>
              </a:spcAft>
            </a:pPr>
            <a:r>
              <a:rPr sz="2100" b="0">
                <a:solidFill>
                  <a:srgbClr val="4A4A4A"/>
                </a:solidFill>
              </a:rPr>
              <a:t>El asistente recibe el documento completo, no fragmentos: lee todo el PRODOC para cada criterio.</a:t>
            </a:r>
          </a:p>
          <a:p>
            <a:pPr lvl="1">
              <a:spcAft>
                <a:spcPts val="979"/>
              </a:spcAft>
            </a:pPr>
            <a:r>
              <a:rPr sz="2100" b="0">
                <a:solidFill>
                  <a:srgbClr val="4A4A4A"/>
                </a:solidFill>
              </a:rPr>
              <a:t>Se guía por anclas verificables: códigos, nombres y patrones de texto concretos a buscar.</a:t>
            </a:r>
          </a:p>
          <a:p>
            <a:pPr lvl="1">
              <a:spcAft>
                <a:spcPts val="979"/>
              </a:spcAft>
            </a:pPr>
            <a:r>
              <a:rPr sz="2100" b="0">
                <a:solidFill>
                  <a:srgbClr val="4A4A4A"/>
                </a:solidFill>
              </a:rPr>
              <a:t>No es búsqueda por palabras clave: localiza la sección pertinente y la interpreta en contexto.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486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79"/>
              </a:spcAft>
            </a:pPr>
            <a:r>
              <a:rPr sz="2100" b="1">
                <a:solidFill>
                  <a:srgbClr val="003E7E"/>
                </a:solidFill>
              </a:rPr>
              <a:t>Cómo se valora</a:t>
            </a:r>
          </a:p>
          <a:p>
            <a:pPr lvl="1">
              <a:spcAft>
                <a:spcPts val="979"/>
              </a:spcAft>
            </a:pPr>
            <a:r>
              <a:rPr sz="2100" b="0">
                <a:solidFill>
                  <a:srgbClr val="4A4A4A"/>
                </a:solidFill>
              </a:rPr>
              <a:t>La evidencia se cita textualmente entre comillas.</a:t>
            </a:r>
          </a:p>
          <a:p>
            <a:pPr lvl="1">
              <a:spcAft>
                <a:spcPts val="979"/>
              </a:spcAft>
            </a:pPr>
            <a:r>
              <a:rPr sz="2100" b="0">
                <a:solidFill>
                  <a:srgbClr val="4A4A4A"/>
                </a:solidFill>
              </a:rPr>
              <a:t>La ausencia también es evidencia: “no se encontró la sección X”.</a:t>
            </a:r>
          </a:p>
          <a:p>
            <a:pPr lvl="1">
              <a:spcAft>
                <a:spcPts val="979"/>
              </a:spcAft>
            </a:pPr>
            <a:r>
              <a:rPr sz="2100" b="0">
                <a:solidFill>
                  <a:srgbClr val="4A4A4A"/>
                </a:solidFill>
              </a:rPr>
              <a:t>En criterios transversales solo cuenta la mención dedicada (sub-objetivo, indicador, actividad, presupuesto o meta), no el encuadre en una lista.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212080"/>
            <a:ext cx="11064240" cy="5029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400" b="0">
                <a:solidFill>
                  <a:srgbClr val="4A4A4A"/>
                </a:solidFill>
              </a:rPr>
              <a:t>El razonamiento devuelto </a:t>
            </a:r>
            <a:r>
              <a:rPr sz="1400" b="1">
                <a:solidFill>
                  <a:srgbClr val="003E7E"/>
                </a:solidFill>
              </a:rPr>
              <a:t>enumera cada test</a:t>
            </a:r>
            <a:r>
              <a:rPr sz="1400" b="0">
                <a:solidFill>
                  <a:srgbClr val="4A4A4A"/>
                </a:solidFill>
              </a:rPr>
              <a:t>, la decisión lógica y el resultado: la valoración es </a:t>
            </a:r>
            <a:r>
              <a:rPr sz="1400" b="1">
                <a:solidFill>
                  <a:srgbClr val="003E7E"/>
                </a:solidFill>
              </a:rPr>
              <a:t>auditable</a:t>
            </a:r>
            <a:r>
              <a:rPr sz="1400" b="0">
                <a:solidFill>
                  <a:srgbClr val="4A4A4A"/>
                </a:solidFill>
              </a:rPr>
              <a:t>, no una caja negra.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800" b="1">
                <a:solidFill>
                  <a:srgbClr val="FFFFFF"/>
                </a:solidFill>
              </a:rPr>
              <a:t>Consistencia: evaluación repetida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2200" b="0">
                <a:solidFill>
                  <a:srgbClr val="4A4A4A"/>
                </a:solidFill>
              </a:rPr>
              <a:t>Un modelo de lenguaje puede dar respuestas algo distintas en corridas sucesivas. Para un resultado </a:t>
            </a:r>
            <a:r>
              <a:rPr sz="2200" b="1">
                <a:solidFill>
                  <a:srgbClr val="003E7E"/>
                </a:solidFill>
              </a:rPr>
              <a:t>estable y confiable</a:t>
            </a:r>
            <a:r>
              <a:rPr sz="2200" b="0">
                <a:solidFill>
                  <a:srgbClr val="4A4A4A"/>
                </a:solidFill>
              </a:rPr>
              <a:t>, cada criterio no se evalúa una sola vez: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486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60"/>
              </a:spcAft>
            </a:pPr>
            <a:r>
              <a:rPr sz="2600">
                <a:solidFill>
                  <a:srgbClr val="D6001C"/>
                </a:solidFill>
              </a:rPr>
              <a:t>▪  </a:t>
            </a:r>
            <a:r>
              <a:rPr sz="2600" b="0">
                <a:solidFill>
                  <a:srgbClr val="4A4A4A"/>
                </a:solidFill>
              </a:rPr>
              <a:t>Cada criterio se evalúa </a:t>
            </a:r>
            <a:r>
              <a:rPr sz="2600" b="1">
                <a:solidFill>
                  <a:srgbClr val="D6001C"/>
                </a:solidFill>
              </a:rPr>
              <a:t>varias veces</a:t>
            </a:r>
            <a:r>
              <a:rPr sz="2600" b="0">
                <a:solidFill>
                  <a:srgbClr val="4A4A4A"/>
                </a:solidFill>
              </a:rPr>
              <a:t> de forma independiente.</a:t>
            </a:r>
          </a:p>
          <a:p>
            <a:pPr>
              <a:spcAft>
                <a:spcPts val="1360"/>
              </a:spcAft>
            </a:pPr>
            <a:r>
              <a:rPr sz="2600">
                <a:solidFill>
                  <a:srgbClr val="D6001C"/>
                </a:solidFill>
              </a:rPr>
              <a:t>▪  </a:t>
            </a:r>
            <a:r>
              <a:rPr sz="2600" b="0">
                <a:solidFill>
                  <a:srgbClr val="4A4A4A"/>
                </a:solidFill>
              </a:rPr>
              <a:t>Se toma el </a:t>
            </a:r>
            <a:r>
              <a:rPr sz="2600" b="1">
                <a:solidFill>
                  <a:srgbClr val="003E7E"/>
                </a:solidFill>
              </a:rPr>
              <a:t>veredicto modal</a:t>
            </a:r>
            <a:r>
              <a:rPr sz="2600" b="0">
                <a:solidFill>
                  <a:srgbClr val="4A4A4A"/>
                </a:solidFill>
              </a:rPr>
              <a:t> (el más frecuente).</a:t>
            </a:r>
          </a:p>
          <a:p>
            <a:pPr>
              <a:spcAft>
                <a:spcPts val="1360"/>
              </a:spcAft>
            </a:pPr>
            <a:r>
              <a:rPr sz="2600">
                <a:solidFill>
                  <a:srgbClr val="D6001C"/>
                </a:solidFill>
              </a:rPr>
              <a:t>▪  </a:t>
            </a:r>
            <a:r>
              <a:rPr sz="2600" b="0">
                <a:solidFill>
                  <a:srgbClr val="4A4A4A"/>
                </a:solidFill>
              </a:rPr>
              <a:t>Se reporta la </a:t>
            </a:r>
            <a:r>
              <a:rPr sz="2600" b="1">
                <a:solidFill>
                  <a:srgbClr val="003E7E"/>
                </a:solidFill>
              </a:rPr>
              <a:t>Estabilidad (%)</a:t>
            </a:r>
            <a:r>
              <a:rPr sz="2600" b="0">
                <a:solidFill>
                  <a:srgbClr val="4A4A4A"/>
                </a:solidFill>
              </a:rPr>
              <a:t>: cuántas corridas coincidieron.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103120"/>
            <a:ext cx="5486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D6001C"/>
                </a:solidFill>
              </a:rPr>
              <a:t>▪  </a:t>
            </a:r>
            <a:r>
              <a:rPr sz="2200" b="0">
                <a:solidFill>
                  <a:srgbClr val="4A4A4A"/>
                </a:solidFill>
              </a:rPr>
              <a:t>Estabilidad alta (≥80%) → resultado sólido.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D6001C"/>
                </a:solidFill>
              </a:rPr>
              <a:t>▪  </a:t>
            </a:r>
            <a:r>
              <a:rPr sz="2200" b="0">
                <a:solidFill>
                  <a:srgbClr val="4A4A4A"/>
                </a:solidFill>
              </a:rPr>
              <a:t>Estabilidad baja → se marca y se indica la </a:t>
            </a:r>
            <a:r>
              <a:rPr sz="2200" b="1">
                <a:solidFill>
                  <a:srgbClr val="D6001C"/>
                </a:solidFill>
              </a:rPr>
              <a:t>deriva principal</a:t>
            </a:r>
            <a:r>
              <a:rPr sz="2200" b="0">
                <a:solidFill>
                  <a:srgbClr val="4A4A4A"/>
                </a:solidFill>
              </a:rPr>
              <a:t>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D6001C"/>
                </a:solidFill>
              </a:rPr>
              <a:t>▪  </a:t>
            </a:r>
            <a:r>
              <a:rPr sz="2200" b="0">
                <a:solidFill>
                  <a:srgbClr val="4A4A4A"/>
                </a:solidFill>
              </a:rPr>
              <a:t>Los criterios inestables son los que conviene </a:t>
            </a:r>
            <a:r>
              <a:rPr sz="2200" b="1">
                <a:solidFill>
                  <a:srgbClr val="003E7E"/>
                </a:solidFill>
              </a:rPr>
              <a:t>revisar a mano</a:t>
            </a:r>
            <a:r>
              <a:rPr sz="2200" b="0">
                <a:solidFill>
                  <a:srgbClr val="4A4A4A"/>
                </a:solidFill>
              </a:rPr>
              <a:t> primero.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120640"/>
            <a:ext cx="11064240" cy="5029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400" b="0">
                <a:solidFill>
                  <a:srgbClr val="4A4A4A"/>
                </a:solidFill>
              </a:rPr>
              <a:t>Además, los criterios </a:t>
            </a:r>
            <a:r>
              <a:rPr sz="1400" b="1">
                <a:solidFill>
                  <a:srgbClr val="003E7E"/>
                </a:solidFill>
              </a:rPr>
              <a:t>más subjetivos</a:t>
            </a:r>
            <a:r>
              <a:rPr sz="1400" b="0">
                <a:solidFill>
                  <a:srgbClr val="4A4A4A"/>
                </a:solidFill>
              </a:rPr>
              <a:t> se evalúan con un nivel de razonamiento más profundo que los de simple presencia.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800" b="1">
                <a:solidFill>
                  <a:srgbClr val="FFFFFF"/>
                </a:solidFill>
              </a:rPr>
              <a:t>Cómo leer los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1800" b="0">
                <a:solidFill>
                  <a:srgbClr val="4A4A4A"/>
                </a:solidFill>
              </a:rPr>
              <a:t>El asistente entrega un </a:t>
            </a:r>
            <a:r>
              <a:rPr sz="1800" b="1">
                <a:solidFill>
                  <a:srgbClr val="003E7E"/>
                </a:solidFill>
              </a:rPr>
              <a:t>resumen en el chat</a:t>
            </a:r>
            <a:r>
              <a:rPr sz="1800" b="0">
                <a:solidFill>
                  <a:srgbClr val="4A4A4A"/>
                </a:solidFill>
              </a:rPr>
              <a:t> y un </a:t>
            </a:r>
            <a:r>
              <a:rPr sz="1800" b="1">
                <a:solidFill>
                  <a:srgbClr val="003E7E"/>
                </a:solidFill>
              </a:rPr>
              <a:t>Excel descargable</a:t>
            </a:r>
            <a:r>
              <a:rPr sz="1800" b="0">
                <a:solidFill>
                  <a:srgbClr val="4A4A4A"/>
                </a:solidFill>
              </a:rPr>
              <a:t> con dos niveles de lectura: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00400"/>
                <a:gridCol w="5303520"/>
              </a:tblGrid>
              <a:tr h="121920">
                <a:tc>
                  <a:txBody>
                    <a:bodyPr/>
                    <a:lstStyle/>
                    <a:p>
                      <a:pPr/>
                      <a:r>
                        <a:rPr b="1" sz="3100">
                          <a:solidFill>
                            <a:srgbClr val="FFFFFF"/>
                          </a:solidFill>
                        </a:rPr>
                        <a:t>Hoja</a:t>
                      </a:r>
                    </a:p>
                  </a:txBody>
                  <a:tcPr marT="25400" marB="254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3100">
                          <a:solidFill>
                            <a:srgbClr val="FFFFFF"/>
                          </a:solidFill>
                        </a:rPr>
                        <a:t>Para quién</a:t>
                      </a:r>
                    </a:p>
                  </a:txBody>
                  <a:tcPr marT="25400" marB="254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3100">
                          <a:solidFill>
                            <a:srgbClr val="FFFFFF"/>
                          </a:solidFill>
                        </a:rPr>
                        <a:t>Qué contiene</a:t>
                      </a:r>
                    </a:p>
                  </a:txBody>
                  <a:tcPr marT="25400" marB="25400">
                    <a:solidFill>
                      <a:srgbClr val="003E7E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pPr/>
                      <a:r>
                        <a:rPr sz="3100">
                          <a:solidFill>
                            <a:srgbClr val="4A4A4A"/>
                          </a:solidFill>
                        </a:rPr>
                        <a:t>Lectura amigable</a:t>
                      </a:r>
                    </a:p>
                  </a:txBody>
                  <a:tcPr marT="12700" marB="127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100">
                          <a:solidFill>
                            <a:srgbClr val="4A4A4A"/>
                          </a:solidFill>
                        </a:rPr>
                        <a:t>Evaluadores y gestores</a:t>
                      </a:r>
                    </a:p>
                  </a:txBody>
                  <a:tcPr marT="12700" marB="127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100">
                          <a:solidFill>
                            <a:srgbClr val="4A4A4A"/>
                          </a:solidFill>
                        </a:rPr>
                        <a:t>Resultado, lectura rápida, principal oportunidad de mejora, evidencia clave</a:t>
                      </a:r>
                    </a:p>
                  </a:txBody>
                  <a:tcPr marT="12700" marB="12700">
                    <a:solidFill>
                      <a:srgbClr val="F0F4F8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pPr/>
                      <a:r>
                        <a:rPr sz="3100">
                          <a:solidFill>
                            <a:srgbClr val="4A4A4A"/>
                          </a:solidFill>
                        </a:rPr>
                        <a:t>Auditoría técnica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100">
                          <a:solidFill>
                            <a:srgbClr val="4A4A4A"/>
                          </a:solidFill>
                        </a:rPr>
                        <a:t>Revisores que necesitan la traza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100">
                          <a:solidFill>
                            <a:srgbClr val="4A4A4A"/>
                          </a:solidFill>
                        </a:rPr>
                        <a:t>Razonamiento completo, evidencia extendida, estado de cada criterio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21208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80"/>
              </a:spcAft>
            </a:pPr>
            <a:r>
              <a:rPr sz="2000">
                <a:solidFill>
                  <a:srgbClr val="D6001C"/>
                </a:solidFill>
              </a:rPr>
              <a:t>▪  </a:t>
            </a:r>
            <a:r>
              <a:rPr sz="2000" b="0">
                <a:solidFill>
                  <a:srgbClr val="4A4A4A"/>
                </a:solidFill>
              </a:rPr>
              <a:t>Una columna marca los criterios con </a:t>
            </a:r>
            <a:r>
              <a:rPr sz="2000" b="1">
                <a:solidFill>
                  <a:srgbClr val="D6001C"/>
                </a:solidFill>
              </a:rPr>
              <a:t>revisión humana recomendada</a:t>
            </a:r>
            <a:r>
              <a:rPr sz="2000" b="0">
                <a:solidFill>
                  <a:srgbClr val="4A4A4A"/>
                </a:solidFill>
              </a:rPr>
              <a:t> (alta subjetividad): priorícelos.</a:t>
            </a:r>
          </a:p>
          <a:p>
            <a:pPr>
              <a:spcAft>
                <a:spcPts val="1080"/>
              </a:spcAft>
            </a:pPr>
            <a:r>
              <a:rPr sz="2000">
                <a:solidFill>
                  <a:srgbClr val="D6001C"/>
                </a:solidFill>
              </a:rPr>
              <a:t>▪  </a:t>
            </a:r>
            <a:r>
              <a:rPr sz="2000" b="0">
                <a:solidFill>
                  <a:srgbClr val="4A4A4A"/>
                </a:solidFill>
              </a:rPr>
              <a:t>El resumen del chat da los </a:t>
            </a:r>
            <a:r>
              <a:rPr sz="2000" b="1">
                <a:solidFill>
                  <a:srgbClr val="003E7E"/>
                </a:solidFill>
              </a:rPr>
              <a:t>conteos por veredicto</a:t>
            </a:r>
            <a:r>
              <a:rPr sz="2000" b="0">
                <a:solidFill>
                  <a:srgbClr val="4A4A4A"/>
                </a:solidFill>
              </a:rPr>
              <a:t> para ubicar rápido las brechas.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800" b="1">
                <a:solidFill>
                  <a:srgbClr val="FFFFFF"/>
                </a:solidFill>
              </a:rPr>
              <a:t>Cómo acceder: cuenta y enlaces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l"/>
            <a:r>
              <a:rPr sz="1500" b="1">
                <a:solidFill>
                  <a:srgbClr val="003E7E"/>
                </a:solidFill>
              </a:rPr>
              <a:t>¿Qué cuenta necesito?  </a:t>
            </a:r>
            <a:r>
              <a:rPr sz="1500" b="0">
                <a:solidFill>
                  <a:srgbClr val="4A4A4A"/>
                </a:solidFill>
              </a:rPr>
              <a:t>Una cuenta de ChatGPT. Los asistentes se comparten como enlace privado (solo quien recibe el enlace): no aparecen en búsquedas públicas.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486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15"/>
              </a:spcAft>
            </a:pPr>
            <a:r>
              <a:rPr sz="2200" b="1">
                <a:solidFill>
                  <a:srgbClr val="003E7E"/>
                </a:solidFill>
              </a:rPr>
              <a:t>Lo que usted necesita</a:t>
            </a:r>
          </a:p>
          <a:p>
            <a:pPr lvl="1">
              <a:spcAft>
                <a:spcPts val="1015"/>
              </a:spcAft>
            </a:pPr>
            <a:r>
              <a:rPr sz="2200" b="0">
                <a:solidFill>
                  <a:srgbClr val="4A4A4A"/>
                </a:solidFill>
              </a:rPr>
              <a:t>Cuenta ChatGPT y el enlace del asistente.</a:t>
            </a:r>
          </a:p>
          <a:p>
            <a:pPr lvl="1">
              <a:spcAft>
                <a:spcPts val="1015"/>
              </a:spcAft>
            </a:pPr>
            <a:r>
              <a:rPr sz="2200" b="1">
                <a:solidFill>
                  <a:srgbClr val="D6001C"/>
                </a:solidFill>
              </a:rPr>
              <a:t>Ninguna clave ni configuración</a:t>
            </a:r>
            <a:r>
              <a:rPr sz="2200" b="0">
                <a:solidFill>
                  <a:srgbClr val="4A4A4A"/>
                </a:solidFill>
              </a:rPr>
              <a:t>: todo va incorporado.</a:t>
            </a:r>
          </a:p>
          <a:p>
            <a:pPr lvl="1">
              <a:spcAft>
                <a:spcPts val="1015"/>
              </a:spcAft>
            </a:pPr>
            <a:r>
              <a:rPr sz="2200" b="0">
                <a:solidFill>
                  <a:srgbClr val="4A4A4A"/>
                </a:solidFill>
              </a:rPr>
              <a:t>El documento a evaluar en formato .docx.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103120"/>
            <a:ext cx="5486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90"/>
              </a:spcAft>
            </a:pPr>
            <a:r>
              <a:rPr sz="2600" b="1">
                <a:solidFill>
                  <a:srgbClr val="003E7E"/>
                </a:solidFill>
              </a:rPr>
              <a:t>Lo que NO necesita</a:t>
            </a:r>
          </a:p>
          <a:p>
            <a:pPr lvl="1">
              <a:spcAft>
                <a:spcPts val="1190"/>
              </a:spcAft>
            </a:pPr>
            <a:r>
              <a:rPr sz="2600" b="0">
                <a:solidFill>
                  <a:srgbClr val="4A4A4A"/>
                </a:solidFill>
              </a:rPr>
              <a:t>No instala nada.</a:t>
            </a:r>
          </a:p>
          <a:p>
            <a:pPr lvl="1">
              <a:spcAft>
                <a:spcPts val="1190"/>
              </a:spcAft>
            </a:pPr>
            <a:r>
              <a:rPr sz="2600" b="0">
                <a:solidFill>
                  <a:srgbClr val="4A4A4A"/>
                </a:solidFill>
              </a:rPr>
              <a:t>No sube ni edita la rúbrica.</a:t>
            </a:r>
          </a:p>
          <a:p>
            <a:pPr lvl="1">
              <a:spcAft>
                <a:spcPts val="1190"/>
              </a:spcAft>
            </a:pPr>
            <a:r>
              <a:rPr sz="2600" b="0">
                <a:solidFill>
                  <a:srgbClr val="4A4A4A"/>
                </a:solidFill>
              </a:rPr>
              <a:t>No maneja claves de API (las administra la OIT del lado del servidor).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120640"/>
            <a:ext cx="110642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2600" b="0">
                <a:solidFill>
                  <a:srgbClr val="4A4A4A"/>
                </a:solidFill>
              </a:rPr>
              <a:t>Los enlaces y accesos se distribuyen por canal interno de la OIT.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800" b="1">
                <a:solidFill>
                  <a:srgbClr val="FFFFFF"/>
                </a:solidFill>
              </a:rPr>
              <a:t>Cómo usarlo, paso a paso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85"/>
              </a:spcAft>
            </a:pPr>
            <a:r>
              <a:rPr sz="2500" b="0">
                <a:solidFill>
                  <a:srgbClr val="4A4A4A"/>
                </a:solidFill>
              </a:rPr>
              <a:t>1.  Abra el </a:t>
            </a:r>
            <a:r>
              <a:rPr sz="2500" b="1">
                <a:solidFill>
                  <a:srgbClr val="003E7E"/>
                </a:solidFill>
              </a:rPr>
              <a:t>enlace</a:t>
            </a:r>
            <a:r>
              <a:rPr sz="2500" b="0">
                <a:solidFill>
                  <a:srgbClr val="4A4A4A"/>
                </a:solidFill>
              </a:rPr>
              <a:t> del asistente en ChatGPT.</a:t>
            </a:r>
          </a:p>
          <a:p>
            <a:pPr>
              <a:spcAft>
                <a:spcPts val="1085"/>
              </a:spcAft>
            </a:pPr>
            <a:r>
              <a:rPr sz="2500" b="0">
                <a:solidFill>
                  <a:srgbClr val="4A4A4A"/>
                </a:solidFill>
              </a:rPr>
              <a:t>2.  </a:t>
            </a:r>
            <a:r>
              <a:rPr sz="2500" b="1">
                <a:solidFill>
                  <a:srgbClr val="003E7E"/>
                </a:solidFill>
              </a:rPr>
              <a:t>Suba un documento .docx</a:t>
            </a:r>
            <a:r>
              <a:rPr sz="2500" b="0">
                <a:solidFill>
                  <a:srgbClr val="4A4A4A"/>
                </a:solidFill>
              </a:rPr>
              <a:t> en el chat (uno por evaluación).</a:t>
            </a:r>
          </a:p>
          <a:p>
            <a:pPr>
              <a:spcAft>
                <a:spcPts val="1085"/>
              </a:spcAft>
            </a:pPr>
            <a:r>
              <a:rPr sz="2500" b="0">
                <a:solidFill>
                  <a:srgbClr val="4A4A4A"/>
                </a:solidFill>
              </a:rPr>
              <a:t>3.  Indique el alcance cuando el asistente lo pregunte:</a:t>
            </a:r>
          </a:p>
          <a:p>
            <a:pPr lvl="1">
              <a:spcAft>
                <a:spcPts val="1085"/>
              </a:spcAft>
            </a:pPr>
            <a:r>
              <a:rPr sz="2500" b="0">
                <a:solidFill>
                  <a:srgbClr val="4A4A4A"/>
                </a:solidFill>
              </a:rPr>
              <a:t>Calidad: evaluación completa o secciones/subsecciones concretas.</a:t>
            </a:r>
          </a:p>
          <a:p>
            <a:pPr lvl="1">
              <a:spcAft>
                <a:spcPts val="1085"/>
              </a:spcAft>
            </a:pPr>
            <a:r>
              <a:rPr sz="2500" b="0">
                <a:solidFill>
                  <a:srgbClr val="4A4A4A"/>
                </a:solidFill>
              </a:rPr>
              <a:t>Atributos: qué rúbrica (género, participación o Transición Justa).</a:t>
            </a:r>
          </a:p>
          <a:p>
            <a:pPr lvl="1">
              <a:spcAft>
                <a:spcPts val="1085"/>
              </a:spcAft>
            </a:pPr>
            <a:r>
              <a:rPr sz="2500" b="0">
                <a:solidFill>
                  <a:srgbClr val="4A4A4A"/>
                </a:solidFill>
              </a:rPr>
              <a:t>Sostenibilidad: qué dimensión o la rúbrica completa.</a:t>
            </a:r>
          </a:p>
          <a:p>
            <a:pPr>
              <a:spcAft>
                <a:spcPts val="1085"/>
              </a:spcAft>
            </a:pPr>
            <a:r>
              <a:rPr sz="2500" b="0">
                <a:solidFill>
                  <a:srgbClr val="4A4A4A"/>
                </a:solidFill>
              </a:rPr>
              <a:t>4.  La primera vez, ChatGPT pedirá </a:t>
            </a:r>
            <a:r>
              <a:rPr sz="2500" b="1">
                <a:solidFill>
                  <a:srgbClr val="003E7E"/>
                </a:solidFill>
              </a:rPr>
              <a:t>autorizar la acción</a:t>
            </a:r>
            <a:r>
              <a:rPr sz="2500" b="0">
                <a:solidFill>
                  <a:srgbClr val="4A4A4A"/>
                </a:solidFill>
              </a:rPr>
              <a:t>: confirme.</a:t>
            </a:r>
          </a:p>
          <a:p>
            <a:pPr>
              <a:spcAft>
                <a:spcPts val="1085"/>
              </a:spcAft>
            </a:pPr>
            <a:r>
              <a:rPr sz="2500" b="0">
                <a:solidFill>
                  <a:srgbClr val="4A4A4A"/>
                </a:solidFill>
              </a:rPr>
              <a:t>5.  Espere a que termine y </a:t>
            </a:r>
            <a:r>
              <a:rPr sz="2500" b="1">
                <a:solidFill>
                  <a:srgbClr val="D6001C"/>
                </a:solidFill>
              </a:rPr>
              <a:t>descargue el Excel</a:t>
            </a:r>
            <a:r>
              <a:rPr sz="2500" b="0">
                <a:solidFill>
                  <a:srgbClr val="4A4A4A"/>
                </a:solidFill>
              </a:rPr>
              <a:t> de resultados.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394960"/>
            <a:ext cx="11064240" cy="5029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l"/>
            <a:r>
              <a:rPr sz="1400" b="1">
                <a:solidFill>
                  <a:srgbClr val="003E7E"/>
                </a:solidFill>
              </a:rPr>
              <a:t>Sugerencia:  </a:t>
            </a:r>
            <a:r>
              <a:rPr sz="1400" b="0">
                <a:solidFill>
                  <a:srgbClr val="4A4A4A"/>
                </a:solidFill>
              </a:rPr>
              <a:t>si la primera respuesta tarda, el servicio estaba en reposo. Pida “revisa el estado y entrégame el resultado” y continuará.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800" b="1">
                <a:solidFill>
                  <a:srgbClr val="FFFFFF"/>
                </a:solidFill>
              </a:rPr>
              <a:t>¿Puedo conversar con los resultados?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2200" b="1">
                <a:solidFill>
                  <a:srgbClr val="D6001C"/>
                </a:solidFill>
              </a:rPr>
              <a:t>Sí. </a:t>
            </a:r>
            <a:r>
              <a:rPr sz="2200" b="0">
                <a:solidFill>
                  <a:srgbClr val="4A4A4A"/>
                </a:solidFill>
              </a:rPr>
              <a:t>Una vez que tiene el resultado, puede seguir preguntando en el mismo chat: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2200">
                <a:solidFill>
                  <a:srgbClr val="D6001C"/>
                </a:solidFill>
              </a:rPr>
              <a:t>▪  </a:t>
            </a:r>
            <a:r>
              <a:rPr sz="2200" b="0" i="1">
                <a:solidFill>
                  <a:srgbClr val="4A4A4A"/>
                </a:solidFill>
              </a:rPr>
              <a:t>“Resume las tres principales brechas.”</a:t>
            </a:r>
          </a:p>
          <a:p>
            <a:pPr>
              <a:spcAft>
                <a:spcPts val="900"/>
              </a:spcAft>
            </a:pPr>
            <a:r>
              <a:rPr sz="2200">
                <a:solidFill>
                  <a:srgbClr val="D6001C"/>
                </a:solidFill>
              </a:rPr>
              <a:t>▪  </a:t>
            </a:r>
            <a:r>
              <a:rPr sz="2200" b="0" i="1">
                <a:solidFill>
                  <a:srgbClr val="4A4A4A"/>
                </a:solidFill>
              </a:rPr>
              <a:t>“Explícame por qué el criterio 3.2 quedó en Parcial.”</a:t>
            </a:r>
          </a:p>
          <a:p>
            <a:pPr>
              <a:spcAft>
                <a:spcPts val="900"/>
              </a:spcAft>
            </a:pPr>
            <a:r>
              <a:rPr sz="2200">
                <a:solidFill>
                  <a:srgbClr val="D6001C"/>
                </a:solidFill>
              </a:rPr>
              <a:t>▪  </a:t>
            </a:r>
            <a:r>
              <a:rPr sz="2200" b="0" i="1">
                <a:solidFill>
                  <a:srgbClr val="4A4A4A"/>
                </a:solidFill>
              </a:rPr>
              <a:t>“Redacta un párrafo de recomendaciones para la sección de Pertinencia.”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5486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50"/>
              </a:spcAft>
            </a:pPr>
            <a:r>
              <a:rPr sz="2600" b="1">
                <a:solidFill>
                  <a:srgbClr val="003E7E"/>
                </a:solidFill>
              </a:rPr>
              <a:t>Preguntas de seguimiento</a:t>
            </a:r>
          </a:p>
          <a:p>
            <a:pPr lvl="1">
              <a:spcAft>
                <a:spcPts val="1050"/>
              </a:spcAft>
            </a:pPr>
            <a:r>
              <a:rPr sz="2600" b="0">
                <a:solidFill>
                  <a:srgbClr val="4A4A4A"/>
                </a:solidFill>
              </a:rPr>
              <a:t>Usan el modelo de chat que usted elija.</a:t>
            </a:r>
          </a:p>
          <a:p>
            <a:pPr lvl="1">
              <a:spcAft>
                <a:spcPts val="1050"/>
              </a:spcAft>
            </a:pPr>
            <a:r>
              <a:rPr sz="2600" b="0">
                <a:solidFill>
                  <a:srgbClr val="4A4A4A"/>
                </a:solidFill>
              </a:rPr>
              <a:t>No vuelven a correr la rúbrica.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3291840"/>
            <a:ext cx="5486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69"/>
              </a:spcAft>
            </a:pPr>
            <a:r>
              <a:rPr sz="2200" b="1">
                <a:solidFill>
                  <a:srgbClr val="D6001C"/>
                </a:solidFill>
              </a:rPr>
              <a:t>Volver a evaluar</a:t>
            </a:r>
          </a:p>
          <a:p>
            <a:pPr lvl="1">
              <a:spcAft>
                <a:spcPts val="869"/>
              </a:spcAft>
            </a:pPr>
            <a:r>
              <a:rPr sz="2200" b="0">
                <a:solidFill>
                  <a:srgbClr val="4A4A4A"/>
                </a:solidFill>
              </a:rPr>
              <a:t>Pedir “evalúa este otro documento” sí lanza una nueva evaluación.</a:t>
            </a:r>
          </a:p>
          <a:p>
            <a:pPr lvl="1">
              <a:spcAft>
                <a:spcPts val="869"/>
              </a:spcAft>
            </a:pPr>
            <a:r>
              <a:rPr sz="2200" b="0">
                <a:solidFill>
                  <a:srgbClr val="4A4A4A"/>
                </a:solidFill>
              </a:rPr>
              <a:t>El modelo y el rigor están fijados para garantizar consistencia: el usuario no los cambia.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800" b="1">
                <a:solidFill>
                  <a:srgbClr val="FFFFFF"/>
                </a:solidFill>
              </a:rPr>
              <a:t>Buenas prácticas y límites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486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20"/>
              </a:spcAft>
            </a:pPr>
            <a:r>
              <a:rPr sz="2400" b="1">
                <a:solidFill>
                  <a:srgbClr val="003E7E"/>
                </a:solidFill>
              </a:rPr>
              <a:t>Buenas prácticas</a:t>
            </a:r>
          </a:p>
          <a:p>
            <a:pPr lvl="1">
              <a:spcAft>
                <a:spcPts val="1120"/>
              </a:spcAft>
            </a:pPr>
            <a:r>
              <a:rPr sz="2400" b="0">
                <a:solidFill>
                  <a:srgbClr val="4A4A4A"/>
                </a:solidFill>
              </a:rPr>
              <a:t>Suba un documento por evaluación.</a:t>
            </a:r>
          </a:p>
          <a:p>
            <a:pPr lvl="1">
              <a:spcAft>
                <a:spcPts val="1120"/>
              </a:spcAft>
            </a:pPr>
            <a:r>
              <a:rPr sz="2400" b="0">
                <a:solidFill>
                  <a:srgbClr val="4A4A4A"/>
                </a:solidFill>
              </a:rPr>
              <a:t>Empiece por la evaluación completa y luego profundice por sección.</a:t>
            </a:r>
          </a:p>
          <a:p>
            <a:pPr lvl="1">
              <a:spcAft>
                <a:spcPts val="1120"/>
              </a:spcAft>
            </a:pPr>
            <a:r>
              <a:rPr sz="2400" b="0">
                <a:solidFill>
                  <a:srgbClr val="4A4A4A"/>
                </a:solidFill>
              </a:rPr>
              <a:t>Contraste siempre la evidencia citada con el documento.</a:t>
            </a:r>
          </a:p>
          <a:p>
            <a:pPr lvl="1">
              <a:spcAft>
                <a:spcPts val="1120"/>
              </a:spcAft>
            </a:pPr>
            <a:r>
              <a:rPr sz="2400" b="0">
                <a:solidFill>
                  <a:srgbClr val="4A4A4A"/>
                </a:solidFill>
              </a:rPr>
              <a:t>Priorice los criterios marcados para revisión humana.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80160"/>
            <a:ext cx="5486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25"/>
              </a:spcAft>
            </a:pPr>
            <a:r>
              <a:rPr sz="2600" b="1">
                <a:solidFill>
                  <a:srgbClr val="D6001C"/>
                </a:solidFill>
              </a:rPr>
              <a:t>Límites a recordar</a:t>
            </a:r>
          </a:p>
          <a:p>
            <a:pPr lvl="1">
              <a:spcAft>
                <a:spcPts val="1225"/>
              </a:spcAft>
            </a:pPr>
            <a:r>
              <a:rPr sz="2600" b="0">
                <a:solidFill>
                  <a:srgbClr val="4A4A4A"/>
                </a:solidFill>
              </a:rPr>
              <a:t>Resultado asistido por IA, no determinación oficial.</a:t>
            </a:r>
          </a:p>
          <a:p>
            <a:pPr lvl="1">
              <a:spcAft>
                <a:spcPts val="1225"/>
              </a:spcAft>
            </a:pPr>
            <a:r>
              <a:rPr sz="2600" b="0">
                <a:solidFill>
                  <a:srgbClr val="4A4A4A"/>
                </a:solidFill>
              </a:rPr>
              <a:t>Los documentos pueden ser sensibles: use solo los enlaces internos.</a:t>
            </a:r>
          </a:p>
          <a:p>
            <a:pPr lvl="1">
              <a:spcAft>
                <a:spcPts val="1225"/>
              </a:spcAft>
            </a:pPr>
            <a:r>
              <a:rPr sz="2600" b="0">
                <a:solidFill>
                  <a:srgbClr val="4A4A4A"/>
                </a:solidFill>
              </a:rPr>
              <a:t>En criterios subjetivos, la última palabra es del evaluador.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54864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5600" b="1">
                <a:solidFill>
                  <a:srgbClr val="003E7E"/>
                </a:solidFill>
              </a:rPr>
              <a:t>Gracias</a:t>
            </a:r>
          </a:p>
          <a:p>
            <a:pPr/>
            <a:r>
              <a:rPr sz="2200" b="0">
                <a:solidFill>
                  <a:srgbClr val="4A4A4A"/>
                </a:solidFill>
              </a:rPr>
              <a:t>Tres asistentes, una misma mecánica: </a:t>
            </a:r>
            <a:r>
              <a:rPr sz="2200" b="1">
                <a:solidFill>
                  <a:srgbClr val="003E7E"/>
                </a:solidFill>
              </a:rPr>
              <a:t>subir · esperar · descargar</a:t>
            </a:r>
            <a:r>
              <a:rPr sz="2200" b="0">
                <a:solidFill>
                  <a:srgbClr val="4A4A4A"/>
                </a:solidFill>
              </a:rPr>
              <a:t>.  Una ayuda para valorar mejor y más rápido — siempre con </a:t>
            </a:r>
            <a:r>
              <a:rPr sz="2200" b="1">
                <a:solidFill>
                  <a:srgbClr val="D6001C"/>
                </a:solidFill>
              </a:rPr>
              <a:t>validación experta</a:t>
            </a:r>
            <a:r>
              <a:rPr sz="2200" b="0">
                <a:solidFill>
                  <a:srgbClr val="4A4A4A"/>
                </a:solidFill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2700">
                <a:solidFill>
                  <a:srgbClr val="4A4A4A"/>
                </a:solidFill>
              </a:rPr>
              <a:t>Organización Internacional del Trabajo (OIT) · Junio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394960"/>
            <a:ext cx="12191695" cy="54864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